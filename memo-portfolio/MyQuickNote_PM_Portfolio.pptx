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723" r:id="rId8"/>
    <p:sldMasterId id="2147483724" r:id="rId10"/>
    <p:sldMasterId id="2147483725" r:id="rId12"/>
    <p:sldMasterId id="2147483726" r:id="rId14"/>
    <p:sldMasterId id="2147483727" r:id="rId16"/>
    <p:sldMasterId id="2147483728" r:id="rId18"/>
  </p:sldMasterIdLst>
  <p:notesMasterIdLst>
    <p:notesMasterId r:id="rId20"/>
  </p:notesMasterIdLst>
  <p:sldIdLst>
    <p:sldId id="256" r:id="rId22"/>
    <p:sldId id="257" r:id="rId24"/>
    <p:sldId id="258" r:id="rId26"/>
    <p:sldId id="259" r:id="rId28"/>
    <p:sldId id="260" r:id="rId30"/>
    <p:sldId id="261" r:id="rId32"/>
    <p:sldId id="262" r:id="rId33"/>
    <p:sldId id="263" r:id="rId35"/>
    <p:sldId id="264" r:id="rId37"/>
    <p:sldId id="265" r:id="rId39"/>
    <p:sldId id="266" r:id="rId41"/>
    <p:sldId id="267" r:id="rId43"/>
    <p:sldId id="268" r:id="rId45"/>
    <p:sldId id="269" r:id="rId47"/>
    <p:sldId id="270" r:id="rId48"/>
    <p:sldId id="271" r:id="rId50"/>
    <p:sldId id="272" r:id="rId52"/>
    <p:sldId id="299" r:id="rId54"/>
    <p:sldId id="281" r:id="rId55"/>
    <p:sldId id="282" r:id="rId56"/>
    <p:sldId id="291" r:id="rId57"/>
    <p:sldId id="274" r:id="rId58"/>
    <p:sldId id="275" r:id="rId60"/>
    <p:sldId id="276" r:id="rId62"/>
    <p:sldId id="277" r:id="rId64"/>
    <p:sldId id="278" r:id="rId66"/>
    <p:sldId id="294" r:id="rId68"/>
    <p:sldId id="295" r:id="rId70"/>
    <p:sldId id="296" r:id="rId71"/>
    <p:sldId id="297" r:id="rId72"/>
    <p:sldId id="298" r:id="rId73"/>
    <p:sldId id="280" r:id="rId74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8" Type="http://schemas.openxmlformats.org/officeDocument/2006/relationships/slideMaster" Target="slideMasters/slideMaster1.xml"></Relationship><Relationship Id="rId9" Type="http://schemas.openxmlformats.org/officeDocument/2006/relationships/theme" Target="theme/theme1.xml"></Relationship><Relationship Id="rId10" Type="http://schemas.openxmlformats.org/officeDocument/2006/relationships/slideMaster" Target="slideMasters/slideMaster2.xml"></Relationship><Relationship Id="rId12" Type="http://schemas.openxmlformats.org/officeDocument/2006/relationships/slideMaster" Target="slideMasters/slideMaster3.xml"></Relationship><Relationship Id="rId14" Type="http://schemas.openxmlformats.org/officeDocument/2006/relationships/slideMaster" Target="slideMasters/slideMaster4.xml"></Relationship><Relationship Id="rId16" Type="http://schemas.openxmlformats.org/officeDocument/2006/relationships/slideMaster" Target="slideMasters/slideMaster5.xml"></Relationship><Relationship Id="rId18" Type="http://schemas.openxmlformats.org/officeDocument/2006/relationships/slideMaster" Target="slideMasters/slideMaster6.xml"></Relationship><Relationship Id="rId20" Type="http://schemas.openxmlformats.org/officeDocument/2006/relationships/notesMaster" Target="notesMasters/notesMaster1.xml"></Relationship><Relationship Id="rId22" Type="http://schemas.openxmlformats.org/officeDocument/2006/relationships/slide" Target="slides/slide1.xml"></Relationship><Relationship Id="rId24" Type="http://schemas.openxmlformats.org/officeDocument/2006/relationships/slide" Target="slides/slide2.xml"></Relationship><Relationship Id="rId26" Type="http://schemas.openxmlformats.org/officeDocument/2006/relationships/slide" Target="slides/slide3.xml"></Relationship><Relationship Id="rId28" Type="http://schemas.openxmlformats.org/officeDocument/2006/relationships/slide" Target="slides/slide4.xml"></Relationship><Relationship Id="rId30" Type="http://schemas.openxmlformats.org/officeDocument/2006/relationships/slide" Target="slides/slide5.xml"></Relationship><Relationship Id="rId32" Type="http://schemas.openxmlformats.org/officeDocument/2006/relationships/slide" Target="slides/slide6.xml"></Relationship><Relationship Id="rId33" Type="http://schemas.openxmlformats.org/officeDocument/2006/relationships/slide" Target="slides/slide7.xml"></Relationship><Relationship Id="rId35" Type="http://schemas.openxmlformats.org/officeDocument/2006/relationships/slide" Target="slides/slide8.xml"></Relationship><Relationship Id="rId37" Type="http://schemas.openxmlformats.org/officeDocument/2006/relationships/slide" Target="slides/slide9.xml"></Relationship><Relationship Id="rId39" Type="http://schemas.openxmlformats.org/officeDocument/2006/relationships/slide" Target="slides/slide10.xml"></Relationship><Relationship Id="rId41" Type="http://schemas.openxmlformats.org/officeDocument/2006/relationships/slide" Target="slides/slide11.xml"></Relationship><Relationship Id="rId43" Type="http://schemas.openxmlformats.org/officeDocument/2006/relationships/slide" Target="slides/slide12.xml"></Relationship><Relationship Id="rId45" Type="http://schemas.openxmlformats.org/officeDocument/2006/relationships/slide" Target="slides/slide13.xml"></Relationship><Relationship Id="rId47" Type="http://schemas.openxmlformats.org/officeDocument/2006/relationships/slide" Target="slides/slide14.xml"></Relationship><Relationship Id="rId48" Type="http://schemas.openxmlformats.org/officeDocument/2006/relationships/slide" Target="slides/slide15.xml"></Relationship><Relationship Id="rId50" Type="http://schemas.openxmlformats.org/officeDocument/2006/relationships/slide" Target="slides/slide16.xml"></Relationship><Relationship Id="rId52" Type="http://schemas.openxmlformats.org/officeDocument/2006/relationships/slide" Target="slides/slide17.xml"></Relationship><Relationship Id="rId54" Type="http://schemas.openxmlformats.org/officeDocument/2006/relationships/slide" Target="slides/slide18.xml"></Relationship><Relationship Id="rId55" Type="http://schemas.openxmlformats.org/officeDocument/2006/relationships/slide" Target="slides/slide19.xml"></Relationship><Relationship Id="rId56" Type="http://schemas.openxmlformats.org/officeDocument/2006/relationships/slide" Target="slides/slide20.xml"></Relationship><Relationship Id="rId57" Type="http://schemas.openxmlformats.org/officeDocument/2006/relationships/slide" Target="slides/slide21.xml"></Relationship><Relationship Id="rId58" Type="http://schemas.openxmlformats.org/officeDocument/2006/relationships/slide" Target="slides/slide22.xml"></Relationship><Relationship Id="rId60" Type="http://schemas.openxmlformats.org/officeDocument/2006/relationships/slide" Target="slides/slide23.xml"></Relationship><Relationship Id="rId62" Type="http://schemas.openxmlformats.org/officeDocument/2006/relationships/slide" Target="slides/slide24.xml"></Relationship><Relationship Id="rId64" Type="http://schemas.openxmlformats.org/officeDocument/2006/relationships/slide" Target="slides/slide25.xml"></Relationship><Relationship Id="rId66" Type="http://schemas.openxmlformats.org/officeDocument/2006/relationships/slide" Target="slides/slide26.xml"></Relationship><Relationship Id="rId68" Type="http://schemas.openxmlformats.org/officeDocument/2006/relationships/slide" Target="slides/slide27.xml"></Relationship><Relationship Id="rId70" Type="http://schemas.openxmlformats.org/officeDocument/2006/relationships/slide" Target="slides/slide28.xml"></Relationship><Relationship Id="rId71" Type="http://schemas.openxmlformats.org/officeDocument/2006/relationships/slide" Target="slides/slide29.xml"></Relationship><Relationship Id="rId72" Type="http://schemas.openxmlformats.org/officeDocument/2006/relationships/slide" Target="slides/slide30.xml"></Relationship><Relationship Id="rId73" Type="http://schemas.openxmlformats.org/officeDocument/2006/relationships/slide" Target="slides/slide31.xml"></Relationship><Relationship Id="rId74" Type="http://schemas.openxmlformats.org/officeDocument/2006/relationships/slide" Target="slides/slide32.xml"></Relationship><Relationship Id="rId78" Type="http://schemas.openxmlformats.org/officeDocument/2006/relationships/viewProps" Target="viewProps.xml"></Relationship><Relationship Id="rId79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7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7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theme" Target="../theme/theme5.xml"></Relationship></Relationships>
</file>

<file path=ppt/slideMasters/_rels/slideMaster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theme" Target="../theme/theme6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image" Target="../media/emoji_sparkle.png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1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notesSlide" Target="../notesSlides/notesSlide14.xml"></Relationship><Relationship Id="rId3" Type="http://schemas.openxmlformats.org/officeDocument/2006/relationships/image" Target="../media/fImage2337444341.png"></Relationship><Relationship Id="rId4" Type="http://schemas.openxmlformats.org/officeDocument/2006/relationships/slideLayout" Target="../slideLayouts/slideLayout1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3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3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notesSlide" Target="../notesSlides/notesSlide17.xml"></Relationship><Relationship Id="rId3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image" Target="../media/fImage4845894841.jpeg"></Relationship></Relationships>
</file>

<file path=ppt/slides/_rels/slide19.xml.rels><?xml version="1.0" encoding="UTF-8"?>
<Relationships xmlns="http://schemas.openxmlformats.org/package/2006/relationships"><Relationship Id="rId0" Type="http://schemas.openxmlformats.org/officeDocument/2006/relationships/image" Target="../media/screen_calendar.png"></Relationship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0" Type="http://schemas.openxmlformats.org/officeDocument/2006/relationships/image" Target="../media/screen_categories.png"></Relationship><Relationship Id="rId1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10" Type="http://schemas.openxmlformats.org/officeDocument/2006/relationships/image" Target="../media/screen_todo_prep.png"></Relationship><Relationship Id="rId11" Type="http://schemas.openxmlformats.org/officeDocument/2006/relationships/image" Target="../media/screen_todo_prog.png"></Relationship><Relationship Id="rId12" Type="http://schemas.openxmlformats.org/officeDocument/2006/relationships/image" Target="../media/screen_todo_done.png"></Relationship><Relationship Id="rId1" Type="http://schemas.openxmlformats.org/officeDocument/2006/relationships/image" Target="../media/fImage3704393541.png"></Relationship><Relationship Id="rId2" Type="http://schemas.openxmlformats.org/officeDocument/2006/relationships/image" Target="../media/fImage372069368467.png"></Relationship><Relationship Id="rId3" Type="http://schemas.openxmlformats.org/officeDocument/2006/relationships/image" Target="../media/fImage383219376334.png"></Relationship><Relationship Id="rId13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notesSlide" Target="../notesSlides/notesSlide22.xml"></Relationship><Relationship Id="rId3" Type="http://schemas.openxmlformats.org/officeDocument/2006/relationships/slideLayout" Target="../slideLayouts/slideLayout1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notesSlide" Target="../notesSlides/notesSlide23.xml"></Relationship><Relationship Id="rId3" Type="http://schemas.openxmlformats.org/officeDocument/2006/relationships/slideLayout" Target="../slideLayouts/slideLayout1.xml"></Relationship></Relationships>
</file>

<file path=ppt/slides/_rels/slide24.xml.rels><?xml version="1.0" encoding="UTF-8"?>
<Relationships xmlns="http://schemas.openxmlformats.org/package/2006/relationships"><Relationship Id="rId2" Type="http://schemas.openxmlformats.org/officeDocument/2006/relationships/notesSlide" Target="../notesSlides/notesSlide24.xml"></Relationship><Relationship Id="rId3" Type="http://schemas.openxmlformats.org/officeDocument/2006/relationships/slideLayout" Target="../slideLayouts/slideLayout1.xml"></Relationship></Relationships>
</file>

<file path=ppt/slides/_rels/slide25.xml.rels><?xml version="1.0" encoding="UTF-8"?>
<Relationships xmlns="http://schemas.openxmlformats.org/package/2006/relationships"><Relationship Id="rId2" Type="http://schemas.openxmlformats.org/officeDocument/2006/relationships/notesSlide" Target="../notesSlides/notesSlide25.xml"></Relationship><Relationship Id="rId3" Type="http://schemas.openxmlformats.org/officeDocument/2006/relationships/slideLayout" Target="../slideLayouts/slideLayout1.xml"></Relationship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notesSlide" Target="../notesSlides/notesSlide26.xml"></Relationship><Relationship Id="rId3" Type="http://schemas.openxmlformats.org/officeDocument/2006/relationships/slideLayout" Target="../slideLayouts/slideLayout1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01649538467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50069656334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432349776500.png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266179909169.png"></Relationship></Relationships>
</file>

<file path=ppt/slides/_rels/slide32.xml.rels><?xml version="1.0" encoding="UTF-8"?>
<Relationships xmlns="http://schemas.openxmlformats.org/package/2006/relationships"><Relationship Id="rId2" Type="http://schemas.openxmlformats.org/officeDocument/2006/relationships/notesSlide" Target="../notesSlides/notesSlide32.xml"></Relationship><Relationship Id="rId25" Type="http://schemas.openxmlformats.org/officeDocument/2006/relationships/image" Target="../media/emoji_sparkle.png"></Relationship><Relationship Id="rId26" Type="http://schemas.openxmlformats.org/officeDocument/2006/relationships/hyperlink" Target="mailto:kae8231@gmail.com" TargetMode="External"></Relationship><Relationship Id="rId27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PORTFOLIO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반짝이는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지나가는 생각을 "결"별로 담아두는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메모 앱 기획 · 설계 · 개발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00590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발표자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조은정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기간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2026.04.20 ~ 2026.0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5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.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역할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기획 · UX · 개발 (1인)</a:t>
            </a:r>
            <a:endParaRPr lang="ko-KR" altLang="en-US" sz="12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1" name="sparkle_title"/>
          <p:cNvPicPr>
            <a:picLocks noChangeAspect="1"/>
          </p:cNvPicPr>
          <p:nvPr/>
        </p:nvPicPr>
        <p:blipFill>
          <a:blip r:embed="rId_emoji_sparkle_s1"/>
          <a:stretch>
            <a:fillRect/>
          </a:stretch>
        </p:blipFill>
        <p:spPr>
          <a:xfrm>
            <a:off x="3840480" y="2653030"/>
            <a:ext cx="823595" cy="823595"/>
          </a:xfrm>
          <a:prstGeom prst="rect">
            <a:avLst/>
          </a:prstGeom>
        </p:spPr>
      </p:pic>
      <p:sp>
        <p:nvSpPr>
          <p:cNvPr id="202" name="텍스트 상자 1"/>
          <p:cNvSpPr txBox="1">
            <a:spLocks/>
          </p:cNvSpPr>
          <p:nvPr/>
        </p:nvSpPr>
        <p:spPr>
          <a:xfrm rot="0">
            <a:off x="3837305" y="2769870"/>
            <a:ext cx="1279525" cy="110807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72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✨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이야기의 흐름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시작의 고백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 1달 쓰고 11달 비웁니다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&amp; 가설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"아이디어"만 부담이 없을까?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&amp; 페르소나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같은 사람이 또 있을까?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설계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화면, 7개의 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의사결정 6가지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Trade-off로 증명하는 프로덕트 센스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&amp; 측정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북극성과 Anti-Metric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배움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+ 기술, 다시 한다면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투명성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맡기고, 무엇을 지켰나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× 의사결정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3줄의 코드가 만드는 제품 밀도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1달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쓰고 </a:t>
            </a:r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비워둡니다.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― 이 프로젝트는 여기서 시작됐습니다.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731520" cy="3683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앱, 다이어리, 노션 — 뭐든 한 달을 못 갑니다.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딱 하나, 부담 없이 적는 게 있었습니다.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MY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나는 계속 실패할까?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앱에서 반복되는 나의 실패 패턴 3가지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73025" cy="384048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1407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407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폭발 → 2월 백지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407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써야 한다"는 부담감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73025" cy="384048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5455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메모장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55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리스트로만 가득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55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"정리 없는 카오스" 공포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73025" cy="384048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📔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49503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9503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만들다 지쳐 종료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503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완벽주의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공통점 → </a:t>
            </a:r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부담이 기록을 멈추게 한다.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하나, 부담이 없던 단어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solidFill>
            <a:srgbClr val="FF9500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64592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아무때나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써도 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328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3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33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하나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여도 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돼도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328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32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333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안 봐도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발상: 이 "가벼움"을 모든 기록에 이식하면 어떨까?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MARKET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 같은 사람이 또 있을까?"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지인 10명 인터뷰 · 온라인 커뮤니티 리서치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"다이어리 사놓고 3일 썼어요"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 깔아놓고 안 켜요"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"노션은 너무 무거워서 포기"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쓰려다가 오히려 못 써요"</a:t>
            </a:r>
            <a:endParaRPr lang="en-US" sz="1500" dirty="0"/>
          </a:p>
        </p:txBody>
      </p:sp>
      <p:sp>
        <p:nvSpPr>
          <p:cNvPr id="13" name="Shape 11"/>
          <p:cNvSpPr>
            <a:spLocks/>
          </p:cNvSpPr>
          <p:nvPr/>
        </p:nvSpPr>
        <p:spPr>
          <a:xfrm rot="0">
            <a:off x="6442710" y="2286000"/>
            <a:ext cx="4481195" cy="3292475"/>
          </a:xfrm>
          <a:prstGeom prst="rect"/>
          <a:solidFill>
            <a:srgbClr val="FFF9F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4" name="Text 12"/>
          <p:cNvSpPr>
            <a:spLocks/>
          </p:cNvSpPr>
          <p:nvPr/>
        </p:nvSpPr>
        <p:spPr>
          <a:xfrm rot="0">
            <a:off x="6397625" y="2560320"/>
            <a:ext cx="4481195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800">
                <a:solidFill>
                  <a:srgbClr val="8E8E93"/>
                </a:solidFill>
                <a:latin typeface="Malgun Gothic" charset="0"/>
                <a:ea typeface="Malgun Gothic" charset="0"/>
                <a:cs typeface="Malgun Gothic" charset="0"/>
              </a:rPr>
              <a:t>10명 중</a:t>
            </a:r>
            <a:endParaRPr lang="ko-KR" altLang="en-US" sz="1800">
              <a:solidFill>
                <a:srgbClr val="8E8E9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6388735" y="3062605"/>
            <a:ext cx="4481195" cy="1372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8명</a:t>
            </a:r>
            <a:endParaRPr lang="ko-KR" altLang="en-US" sz="120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6397625" y="4525645"/>
            <a:ext cx="4481195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이 비슷한 경험을 가지고 있었다</a:t>
            </a:r>
            <a:endParaRPr lang="ko-KR" altLang="en-US" sz="16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이건 소수의 문제가 아니다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대부분의 메모 앱은 </a:t>
            </a:r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잘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위해 설계되었다.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그런데 사용자의 다수는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못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이다 → </a:t>
            </a:r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공백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앱인가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타겟: "산만형 창작자" — 생각은 많은데 흘려보내는 20~30대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1965960"/>
            <a:ext cx="3611880" cy="91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63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63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2847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(28)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2847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"출근길에 떠오른 아이디어가 회사 가면 사라져요"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63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63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아이폰 기본 메모 앱 — 찾기 너무 어려움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63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63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안에 쓰고, 나중에 쉽게 찾고 싶음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79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790" y="1965960"/>
            <a:ext cx="3611880" cy="91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311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311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6895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현우 (32)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6895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프리랜서 디자이너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311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"영감 노트 앱 5개 깔았지만 다 중간에 포기"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311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311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템플릿 만들다 지침, 에버노트 복잡함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311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6311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예쁘게 쌓이고 감성적 회고 경험을 주는 도구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927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270" y="1965960"/>
            <a:ext cx="3611880" cy="91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359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59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40943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(24)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943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59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"일기 쓰고 싶은데 매일 쓸 자신이 없어요"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59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359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다이어리 여러 번 실패, 스트릭 앱은 스트레스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0359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359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날짜가 있어도 죄책감 없는 기록 공간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앱의 전제를 뒤집다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메모 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잘 하고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싶어한다."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120640" cy="2103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못 하는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자신을 받아들이고 싶어한다."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핵심 가설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"카테고리"라는 딱딱한 분류 대신 "결"이라는 감정 언어가 진입장벽을 낮춘다.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"완벽하게 쓰려는 부담"이 메모 포기의 원인이다 → 질문 프롬프트 + 바로 저장 UX로 해소.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PRODUCT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시 1차 필터가 되는 제품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카운터를 만들지 않는다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5046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기록은 격려가 아니라 부담이다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날짜를 부정적으로 표시하지 않는다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31914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 비어도 괜찮다는 감각을 지킨다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강제하지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8782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기본값을 제공하고 바꾸고 싶을 때만 바꾼다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제공하지 않는다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05650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템플릿은 "이렇게 써야 한다"는 강요다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6459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알림으로 재촉하지 않는다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92518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이탈의 1순위 원인이다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화면, 하나의 여정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회고 → 정리 — 사용자의 자연스러운 흐름을 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361188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407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조각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(Capture)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07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떠오른 생각을 3초 안에 담는다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407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속삭임 프롬프트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바텀시트 카테고리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첨부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3611880" cy="11887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455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달력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(Revisit)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455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언제 무슨 생각을 했는지 돌아본다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5455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날짜별 달력 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조각 점 표시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날짜 허용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3611880" cy="11887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9503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 서랍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(Archive)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9503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마음끼리 모아서 본다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9503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결 그리드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카테고리 아카이브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최신순 정렬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7 CATEGORIES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"결"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감정·용도별로 나누는 7개 서랍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025" cy="960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 떠오른 발상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057400"/>
            <a:ext cx="73025" cy="96012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73025" cy="9601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인용·발견·감탄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154680"/>
            <a:ext cx="73025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관리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51960"/>
            <a:ext cx="73025" cy="96012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한마디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확언·격려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4251960"/>
            <a:ext cx="73025" cy="96012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8404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일기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49240"/>
            <a:ext cx="73025" cy="96012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234440" y="5486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5852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안 되는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057400"/>
            <a:ext cx="5760720" cy="416052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7?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밀러의 법칙 (7±2)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인간이 단기 기억으로 다룰 수 있는 항목 수의 한계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 부족 → 분류가 무의미해짐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이상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피로 → 분류를 포기함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최적점 · 감정 스펙트럼 충분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"카테고리"가 아니라 "결"인가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사용자의 태도를 바꾼다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"카테고리를 선택하세요" — 업무적, 경직된 톤. 메모 앱을 일처럼 느끼게 만든다.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 유지 — 관습적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83464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"태그" — 중립, 일반적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274320" cy="2743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— 감성, 차별화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011680"/>
            <a:ext cx="365760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"결"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(Rationale)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감성(20~30대)과 톤 일치 — 업무가 아닌 자기 대화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톤("조각", "마음")과 일관된 어휘 생태계 구축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= 질감 + 흐름 + 감정 → 의미 확장성 우수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545" cy="1005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 TRADE-OFF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사용자는 "결"의 의미를 바로 모를 수 있음 → 온보딩 1컷으로 보완 예정. 차별화 이익 &gt; 학습 비용으로 판단.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바텀시트 전환 예정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catScroll 가로 칩 → 계획: 바텀시트 전환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스크롤 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메모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영감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4개는 숨어있음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4663440" cy="36576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중 3~4개만 보임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끝 카테고리 선택률 낮음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타이핑하며 스크롤 동작 어색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 + 트리거 칩 하나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5120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 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넓어짐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7개 전체 시각적 공평성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입력창 공간 +40% 확보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EditModal과 UX 일관성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"보이는 것"이 "쓰이는 것"을 결정한다 — 발견 가능성(Discoverability) 중심의 설계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"할일"만 3단계 상태를 준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UI — 기능을 언제 보여줄지가 프로덕트 센스다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82296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질문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조각(메모)에 "진행 상태"를 달면 어떨까?</a:t>
            </a:r>
            <a:endParaRPr lang="en-US" sz="1700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 rot="0">
            <a:off x="548640" y="3026410"/>
            <a:ext cx="5396230" cy="2457450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카테고리에 상태를 붙이면...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"기분"에 "진행중"? → 어색함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"영감"에 "완료"? → 의미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메모 = 작업 → 인지부담 ↑</a:t>
            </a:r>
            <a:endParaRPr lang="en-US" sz="12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 rot="0">
            <a:off x="6217920" y="3017520"/>
            <a:ext cx="5423535" cy="2457450"/>
          </a:xfrm>
          <a:prstGeom prst="rect"/>
          <a:solidFill>
            <a:srgbClr val="FF950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6402705" y="3020060"/>
            <a:ext cx="502983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3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✓ YES</a:t>
            </a:r>
            <a:endParaRPr lang="ko-KR" altLang="en-US" sz="13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7164070" y="3018790"/>
            <a:ext cx="5030470" cy="36703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4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"할일"일 때만 조건부로 노출</a:t>
            </a:r>
            <a:endParaRPr lang="ko-KR" altLang="en-US" sz="14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Shape 15"/>
          <p:cNvSpPr>
            <a:spLocks/>
          </p:cNvSpPr>
          <p:nvPr/>
        </p:nvSpPr>
        <p:spPr>
          <a:xfrm rot="0">
            <a:off x="6316345" y="3359785"/>
            <a:ext cx="5207000" cy="2061845"/>
          </a:xfrm>
          <a:prstGeom prst="rect"/>
          <a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1C1C1E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19" name="Text 17"/>
          <p:cNvSpPr>
            <a:spLocks/>
          </p:cNvSpPr>
          <p:nvPr/>
        </p:nvSpPr>
        <p:spPr>
          <a:xfrm rot="0">
            <a:off x="548640" y="5491480"/>
            <a:ext cx="11092180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700" i="1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"기능은 많이 넣을 수 있다. 하지만 '언제 보여줄지'가 프로덕트 센스다."</a:t>
            </a:r>
            <a:endParaRPr lang="ko-KR" altLang="en-US" sz="1700" i="1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0" name="Text 18"/>
          <p:cNvSpPr>
            <a:spLocks/>
          </p:cNvSpPr>
          <p:nvPr/>
        </p:nvSpPr>
        <p:spPr>
          <a:xfrm rot="0">
            <a:off x="548640" y="5948680"/>
            <a:ext cx="11092180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300">
                <a:solidFill>
                  <a:srgbClr val="8E8E93"/>
                </a:solidFill>
                <a:latin typeface="Malgun Gothic" charset="0"/>
                <a:ea typeface="Malgun Gothic" charset="0"/>
                <a:cs typeface="Malgun Gothic" charset="0"/>
              </a:rPr>
              <a:t>→ 더하기보다 "숨기기"가 어렵다는 걸 배운 결정.</a:t>
            </a:r>
            <a:endParaRPr lang="ko-KR" altLang="en-US" sz="1300">
              <a:solidFill>
                <a:srgbClr val="8E8E9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메인+서브 결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subCategories 미구현 → v2.0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실사용에서 발견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한 조각이 여러 결에 걸치는 경우가 많다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"엄마에게 전화"는 할일+기분, "좋은 말 들음"은 영감+중요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+ 서브 여러개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(노션 스타일)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복수 선택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(할일은 단독)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복수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 자유)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A안을 선택한 4가지 이유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유지 → 카드 UI 규칙(컬러, 라벨) 단순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 UI 조건부 노출 로직 그대로 재사용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subCategories는 optional → 기존 데이터와 100% 호환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Select/Multi-select 패턴 → 학습 비용 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"단일 → 복수" 전환은 쉽다. 어려운 건 "메인이 무엇인지" 유지하는 규칙.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오늘 날짜 필터링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"빼는 결정"이 제품의 밀도를 만든다 (v1.2)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과거가 현재를 방해한다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홈 화면에 전체 타임라인을 보여주면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열 때마다 과거 조각들이 시선을 잡아 "오늘 쓰는 것"에 집중이 흐려진다.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타임라인 노출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7일만 노출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(절충안)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+ 날짜 배너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(집중의 설계)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역할 분리가 만든 밀도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오늘 전용 공간, 달력 = 과거 회고 공간 (역할 분리)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배너 + 주간 토글로 "다른 날로 이동"도 1탭 거리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쌓여도 홈 화면은 영원히 가볍게 유지됨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 2번 "빈 날짜를 부정적으로 표시하지 않는다"와 일관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"더 보여주기"보다 "무엇을 감출지"가 PM의 실력이다.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삭제 UX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삭제 기능 미구현 → 계획: 롱프레스 삭제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쓰레기통 아이콘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71800"/>
            <a:ext cx="457200" cy="4572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실수로 누를 가능성 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시각적 소음 증가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아이디어 앱에 위협적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누르기 + 편집 모달 내 버튼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없음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길게 누르기 = 의도적 제스처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편집 모달에 명시적 삭제 버튼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카드가 깔끔해지고 집중도 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쉬워야 한다. 하지만 "실수로 쉬운" 것과 "의도적으로 쉬운" 것은 다르다.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0"/>
          <p:cNvSpPr>
            <a:spLocks noGrp="1"/>
          </p:cNvSpPr>
          <p:nvPr/>
        </p:nvSpPr>
        <p:spPr>
          <a:xfrm rot="0">
            <a:off x="0" y="0"/>
            <a:ext cx="12193270" cy="180975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1545" cy="40132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999999"/>
                </a:solidFill>
                <a:latin typeface="Malgun Gothic" charset="0"/>
                <a:ea typeface="맑은 고딕" charset="0"/>
                <a:sym typeface="맑은 고딕" charset="0"/>
              </a:rPr>
              <a:t>05 · SCREENS</a:t>
            </a:r>
            <a:endParaRPr lang="ko-KR" altLang="en-US" sz="1000">
              <a:solidFill>
                <a:srgbClr val="99999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299720"/>
            <a:ext cx="4401185" cy="9010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Core Feature 01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32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조각</a:t>
            </a:r>
            <a:endParaRPr lang="ko-KR" altLang="en-US" sz="32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빠른 기록 — 지금 이 순간을 3초 안에</a:t>
            </a:r>
            <a:endParaRPr lang="ko-KR" altLang="en-US" sz="14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 noGrp="1"/>
          </p:cNvSpPr>
          <p:nvPr/>
        </p:nvSpPr>
        <p:spPr>
          <a:xfrm rot="0">
            <a:off x="400050" y="1299845"/>
            <a:ext cx="4001135" cy="41275"/>
          </a:xfrm>
          <a:prstGeom prst="rect"/>
          <a:solidFill>
            <a:srgbClr val="EEEE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1400175"/>
            <a:ext cx="4449445" cy="32010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결(카테고리) 선택 → 텍스트 입력 → 저장 3단계   완성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오늘의 속삭임: 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   랜덤 프롬프트로 기록 시작을 돕는다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사진 · 파일 첨부 기능으로 기록 확장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녹음은 향후 확장예정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작성한 기록을 홈에서 바로 확인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 날짜 기록만 홈에 표시 — 집중도 유지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6" name="Rect 0"/>
          <p:cNvSpPr>
            <a:spLocks noGrp="1"/>
          </p:cNvSpPr>
          <p:nvPr/>
        </p:nvSpPr>
        <p:spPr>
          <a:xfrm rot="0">
            <a:off x="400050" y="5499735"/>
            <a:ext cx="4001135" cy="1001395"/>
          </a:xfrm>
          <a:prstGeom prst="rect"/>
          <a:solidFill>
            <a:srgbClr val="FFF8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600075" y="5600065"/>
            <a:ext cx="3801110" cy="9010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💬</a:t>
            </a: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"완성된 글보다 시작할 수 있는 한 줄이 더 중요하다"</a:t>
            </a:r>
            <a:endParaRPr lang="ko-KR" altLang="en-US" sz="12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pic>
        <p:nvPicPr>
          <p:cNvPr id="50" name="Picture " descr="C:/Users/PC/AppData/Roaming/PolarisOffice/ETemp/15184_15260432/fImage4845894841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071110" y="234950"/>
            <a:ext cx="7030085" cy="6573520"/>
          </a:xfrm>
          <a:prstGeom prst="rect"/>
          <a:noFill/>
        </p:spPr>
      </p:pic>
      <p:sp>
        <p:nvSpPr>
          <p:cNvPr id="1" name="Rect 0"/>
          <p:cNvSpPr>
            <a:spLocks noGrp="1"/>
          </p:cNvSpPr>
          <p:nvPr/>
        </p:nvSpPr>
        <p:spPr>
          <a:xfrm rot="0">
            <a:off x="400050" y="6508115"/>
            <a:ext cx="11393170" cy="30099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01" name="Rect 0"/>
          <p:cNvSpPr>
            <a:spLocks/>
          </p:cNvSpPr>
          <p:nvPr/>
        </p:nvSpPr>
        <p:spPr>
          <a:xfrm rot="0">
            <a:off x="457200" y="6492240"/>
            <a:ext cx="36582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902" name="Rect 0"/>
          <p:cNvSpPr>
            <a:spLocks/>
          </p:cNvSpPr>
          <p:nvPr/>
        </p:nvSpPr>
        <p:spPr>
          <a:xfrm rot="0">
            <a:off x="11091545" y="6492240"/>
            <a:ext cx="9150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18 / 32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5856D6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02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아이디어 달력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달력 회고 — 기록 있는 날짜에 점이 찍힌다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기록이 있는 날짜에 파란 점(·) 자동 표시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날짜 선택 시 그날의 조각만 필터링해서 보여준다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빈 날짜도 실패처럼 보이지 않게 설계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"이날은 아직 기록이 없어요" — 부정적 표현 배제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"기록하지 않은 날도 실패가 아니라, 그냥 빈 날이다"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46015" y="240665"/>
            <a:ext cx="7124065" cy="655764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03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마음 서랍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결별 아카이브 — 7개의 결로 모아보기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아이디어 · 메모 · 영감 · 할일 · 한마디 · 기분 · 중요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7개 고정 — Miller's Law 기반 인지 부담 최소화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결 클릭 시 해당 카테고리만 필터링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색상 코드로 직관적 구분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"7개로 고정 — 선택지가 많아지면 분류 자체가 부담이 된다"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33570" y="240665"/>
            <a:ext cx="7686040" cy="644080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11431905" cy="4298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04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 rot="0">
            <a:off x="379730" y="589280"/>
            <a:ext cx="11432540" cy="550545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3400">
                <a:solidFill>
                  <a:srgbClr val="1A1A1A"/>
                </a:solidFill>
                <a:latin typeface="Malgun Gothic" charset="0"/>
              </a:rPr>
              <a:t>할일 상태 관리</a:t>
            </a:r>
            <a:endParaRPr lang="ko-KR" altLang="en-US" sz="3400">
              <a:solidFill>
                <a:srgbClr val="1A1A1A"/>
              </a:solidFill>
              <a:latin typeface="Malgun Gothic" charset="0"/>
            </a:endParaRP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120140"/>
            <a:ext cx="11431905" cy="400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할일일 때만 </a:t>
            </a: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준비중 → 진행중 → 완료</a:t>
            </a: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 3단계 상태 UI 노출</a:t>
            </a:r>
          </a:p>
        </p:txBody>
      </p:sp>
      <p:pic>
        <p:nvPicPr>
          <p:cNvPr id="51" name="img51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8460" y="1336675"/>
            <a:ext cx="3962400" cy="4192905"/>
          </a:xfrm>
          <a:prstGeom prst="rect"/>
          <a:noFill/>
        </p:spPr>
      </p:pic>
      <p:pic>
        <p:nvPicPr>
          <p:cNvPr id="52" name="img52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98290" y="1520825"/>
            <a:ext cx="3769995" cy="3989070"/>
          </a:xfrm>
          <a:prstGeom prst="rect"/>
          <a:noFill/>
        </p:spPr>
      </p:pic>
      <p:pic>
        <p:nvPicPr>
          <p:cNvPr id="53" name="img53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02270" y="1530350"/>
            <a:ext cx="3810635" cy="4028440"/>
          </a:xfrm>
          <a:prstGeom prst="rect"/>
          <a:noFill/>
        </p:spPr>
      </p:pic>
      <p:sp>
        <p:nvSpPr>
          <p:cNvPr id="20" name="r20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solidFill>
            <a:srgbClr val="E8F4F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2196F3"/>
                </a:solidFill>
                <a:latin typeface="Malgun Gothic" pitchFamily="34" charset="0"/>
              </a:rPr>
              <a:t xml:space="preserve">준비중</a:t>
            </a:r>
          </a:p>
        </p:txBody>
      </p:sp>
      <p:sp>
        <p:nvSpPr>
          <p:cNvPr id="22" name="r22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solidFill>
            <a:srgbClr val="FFF3C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3" name="t23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F57C00"/>
                </a:solidFill>
                <a:latin typeface="Malgun Gothic" pitchFamily="34" charset="0"/>
              </a:rPr>
              <a:t xml:space="preserve">진행중</a:t>
            </a:r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388E3C"/>
                </a:solidFill>
                <a:latin typeface="Malgun Gothic" pitchFamily="34" charset="0"/>
              </a:rPr>
              <a:t xml:space="preserve">완료 ✓</a:t>
            </a:r>
          </a:p>
        </p:txBody>
      </p:sp>
      <p:sp>
        <p:nvSpPr>
          <p:cNvPr id="30" name="r30"/>
          <p:cNvSpPr>
            <a:spLocks noGrp="1"/>
          </p:cNvSpPr>
          <p:nvPr/>
        </p:nvSpPr>
        <p:spPr>
          <a:xfrm rot="0">
            <a:off x="-19685" y="6038850"/>
            <a:ext cx="12212320" cy="819785"/>
          </a:xfrm>
          <a:prstGeom prst="rect"/>
          <a:solidFill>
            <a:srgbClr val="111111"/>
          </a:solidFill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31" name="t31"/>
          <p:cNvSpPr>
            <a:spLocks noGrp="1"/>
          </p:cNvSpPr>
          <p:nvPr/>
        </p:nvSpPr>
        <p:spPr>
          <a:xfrm rot="0">
            <a:off x="311150" y="6189345"/>
            <a:ext cx="11501120" cy="599440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300">
                <a:solidFill>
                  <a:srgbClr val="34C759"/>
                </a:solidFill>
                <a:latin typeface="Malgun Gothic" charset="0"/>
              </a:rPr>
              <a:t>💡</a:t>
            </a:r>
            <a:r>
              <a:rPr lang="ko-KR" sz="1300">
                <a:solidFill>
                  <a:srgbClr val="34C759"/>
                </a:solidFill>
                <a:latin typeface="Malgun Gothic" charset="0"/>
              </a:rPr>
              <a:t xml:space="preserve">  </a:t>
            </a:r>
            <a:r>
              <a:rPr lang="ko-KR" sz="1300">
                <a:solidFill>
                  <a:srgbClr val="FFFFFF"/>
                </a:solidFill>
                <a:latin typeface="Malgun Gothic" charset="0"/>
              </a:rPr>
              <a:t>기능은 많이 넣을 수 있다 — 하지만 "언제 보여줄지"가 프로덕트 센스다</a:t>
            </a:r>
            <a:endParaRPr lang="ko-KR" altLang="en-US" sz="1300">
              <a:solidFill>
                <a:srgbClr val="FFFFFF"/>
              </a:solidFill>
              <a:latin typeface="Malgun Gothic" charset="0"/>
            </a:endParaRPr>
          </a:p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sp>
        <p:nvSpPr>
          <p:cNvPr id="55" name="도형 3"/>
          <p:cNvSpPr>
            <a:spLocks/>
          </p:cNvSpPr>
          <p:nvPr/>
        </p:nvSpPr>
        <p:spPr>
          <a:xfrm rot="0">
            <a:off x="4137025" y="1607820"/>
            <a:ext cx="3701415" cy="3972560"/>
          </a:xfrm>
          <a:prstGeom prst="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6" name="도형 4"/>
          <p:cNvSpPr>
            <a:spLocks/>
          </p:cNvSpPr>
          <p:nvPr/>
        </p:nvSpPr>
        <p:spPr>
          <a:xfrm rot="0">
            <a:off x="333375" y="1592580"/>
            <a:ext cx="3701415" cy="397256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7" name="도형 5"/>
          <p:cNvSpPr>
            <a:spLocks/>
          </p:cNvSpPr>
          <p:nvPr/>
        </p:nvSpPr>
        <p:spPr>
          <a:xfrm rot="0">
            <a:off x="7924165" y="1590675"/>
            <a:ext cx="3739515" cy="3947160"/>
          </a:xfrm>
          <a:prstGeom prst="rect"/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성공을 측정할 것인가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· KPI · Anti-Metric 3층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내 다시 돌아와 조각을 남기는 사용자 비율 (W1 Retention)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앱의 본질은 계속 쓰는 것. 재방문율이 모든 걸 말한다."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 재방문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조각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쓸 때 담는 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카테고리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적게 쓰는 결 사용률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154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진입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"마음 서랍" 탭 방문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154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ANTI-METRIC · 올라가면 오히려 경고 신호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세션당 체류시간 10분 초과 → 앱이 무거워진 신호 (목표는 3초 앱)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일부 카테고리 70% 초과 → 결 구조 불균형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알림 후 재방문 상승 → 원칙 5번(재촉하지 않기) 위반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앞으로의 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→ UX 고도화 → 데이터 → 동기화 → 감성 확장 → IP 커머스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7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8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68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결 · CRUD · 3탭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8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997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713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고도화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713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네이밍 · 바텀시트 · 할일 상태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3713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021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737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5737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태그 · 내보내기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737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진행중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045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761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761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백업 · 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761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069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9785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확장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785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· 위젯 · 주간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785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09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180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· 커머스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1180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로고몽 · 굿즈 · 펀딩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180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545" cy="13258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BM 방향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디지털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Freemium (월 2,900원) — 이미지 무제한 · 클라우드 백업 · 전용 테마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IP · 굿즈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"로고몽" — 인형 · 스테이셔너리 · 가족 소통 키트 (앱 재진입 트리거)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6가지 — 제품과 기술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풀스택 프로젝트에서 체득한 제품 감각 + 개발자와 소통하는 언어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09855" cy="12344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프로덕트 톤을 바꾼다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"카테고리→결", "저장→담기"만 바꿨는데 사용자 감정이 달라짐. 기능 설계 전 용어 설계.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855" cy="1234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언제 보여줄지가 PM의 실력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상태를 조건부로 숨긴 결정이 프로덕트 밀도를 결정. 더하기보다 숨기기가 어렵다.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109855" cy="123444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빠를수록 더 많이 배운다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기획보다 2주 구현이 10배 더 배움. 본인이 사용자일 때 보이는 문제가 가장 정확.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331720"/>
            <a:ext cx="109855" cy="123444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기반 라우팅의 원리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 Router에서 루트는 Stack, 탭은 Tabs. 이 구분이 안 되면 탭바가 두 줄로 쌓인다.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657600"/>
            <a:ext cx="109855" cy="1234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레이스 컨디션 방어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AsyncStorage 로드 전 useEffect가 먼저 발동하면 데이터가 덮어써짐. isLoaded 플래그로 차단.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983480"/>
            <a:ext cx="109855" cy="1234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타임존 함정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Date('2026-04-23')은 UTC 해석. '/' 구분자로 바꿔야 로컬 시간대로 파싱된다.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1109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PM은 코드를 짜지 않아도, "개발자의 언어"를 이해하면 훨씬 좋은 파트너가 된다.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 바꿀 3가지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비판 = 성장 잠재력의 증거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63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63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63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인터뷰를 먼저 했을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63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63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기획 → 구현 → 검증 순서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63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최소 5명 인터뷰부터 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311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311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311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도구를 처음부터 심었을 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311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311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추측 기반의 KPI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311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6311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Amplitude / PostHog 연동부터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59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59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359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앱 Teardown 보고서를 만들었을 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0359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0359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기존 앱들이 실패했는지 얕게 파악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59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359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상세 Teardown → 차별화 정교화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AI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— 무엇을 맡기고, 무엇을 지켰나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PM에게 필요한 것은 "AI 활용도"가 아니라 "AI 경계 설계 능력"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기여도 (by 개발 단계)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원칙 · 의사결정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49618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31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· 네이밍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9910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9105"/>
            <a:ext cx="521335" cy="201295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· IA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350202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3502025"/>
            <a:ext cx="694690" cy="201295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· 문제 해결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400494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004945"/>
            <a:ext cx="1737360" cy="201295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초안 · 디버깅 보조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450786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507865"/>
            <a:ext cx="2432050" cy="20129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629400" cy="6400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⭐ 의사결정 = 0% — </a:t>
            </a:r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철학과 원칙은 100% 본인 판단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· 4가지 핵심 판단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331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240474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네이밍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"카테고리"/"태그" 제안 → 본인: "결"로 재정의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154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322770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오늘만 필터링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비교 → 본인: "집중의 설계" 관점 선택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97764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405066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조건부 UI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전체 상태 UI 구조 → 본인: 조건부로만 노출 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80060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55280" y="487362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메인+서브 설계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5528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→ 본인: 제품 원칙 기준 A안 채택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구현 초안 · 디버깅 보조로 활용 — 제품 원칙 · 우선순위 · 최종 판단 · 검증은 직접 수행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600075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1143254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6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코드로 증명하는 제품 의사결정 4가지</a:t>
            </a:r>
            <a:endParaRPr lang="ko-KR" altLang="en-US" sz="26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379730" y="1390015"/>
            <a:ext cx="11432540" cy="30035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맑은 고딕" charset="0"/>
                <a:sym typeface="맑은 고딕" charset="0"/>
              </a:rPr>
              <a:t>코드 한 줄이 기획 의도를 실현하는 순간 — 작은 결정이 제품의 사용감을 만든다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" name="Rect 0"/>
          <p:cNvSpPr>
            <a:spLocks/>
          </p:cNvSpPr>
          <p:nvPr/>
        </p:nvSpPr>
        <p:spPr>
          <a:xfrm rot="0">
            <a:off x="379730" y="1729740"/>
            <a:ext cx="11432540" cy="18415"/>
          </a:xfrm>
          <a:prstGeom prst="rect"/>
          <a:solidFill>
            <a:srgbClr val="F2F2F7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00" name="Rect 0"/>
          <p:cNvSpPr>
            <a:spLocks/>
          </p:cNvSpPr>
          <p:nvPr/>
        </p:nvSpPr>
        <p:spPr>
          <a:xfrm rot="0">
            <a:off x="379730" y="1779905"/>
            <a:ext cx="90805" cy="1080770"/>
          </a:xfrm>
          <a:prstGeom prst="rect"/>
          <a:solidFill>
            <a:srgbClr val="FF9500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0" name="Rect 0"/>
          <p:cNvSpPr>
            <a:spLocks/>
          </p:cNvSpPr>
          <p:nvPr/>
        </p:nvSpPr>
        <p:spPr>
          <a:xfrm rot="0">
            <a:off x="600075" y="197993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01</a:t>
            </a:r>
            <a:endParaRPr lang="ko-KR" altLang="en-US" sz="2000" b="1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0" name="Rect 0"/>
          <p:cNvSpPr>
            <a:spLocks/>
          </p:cNvSpPr>
          <p:nvPr/>
        </p:nvSpPr>
        <p:spPr>
          <a:xfrm rot="0">
            <a:off x="1200150" y="208026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사라지면 안 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0" name="Rect 0"/>
          <p:cNvSpPr>
            <a:spLocks/>
          </p:cNvSpPr>
          <p:nvPr/>
        </p:nvSpPr>
        <p:spPr>
          <a:xfrm rot="0">
            <a:off x="1200150" y="232029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→ AsyncStorage + isLoaded 패턴</a:t>
            </a:r>
            <a:endParaRPr lang="ko-KR" altLang="en-US" sz="1200" b="1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0" name="Rect 0"/>
          <p:cNvSpPr>
            <a:spLocks/>
          </p:cNvSpPr>
          <p:nvPr/>
        </p:nvSpPr>
        <p:spPr>
          <a:xfrm rot="0">
            <a:off x="1200150" y="252984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앱 종료 후에도 기록이 남아야 신뢰가 쌓인다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1" name="Rect 0"/>
          <p:cNvSpPr>
            <a:spLocks/>
          </p:cNvSpPr>
          <p:nvPr/>
        </p:nvSpPr>
        <p:spPr>
          <a:xfrm rot="0">
            <a:off x="379730" y="2879725"/>
            <a:ext cx="90805" cy="1080770"/>
          </a:xfrm>
          <a:prstGeom prst="rect"/>
          <a:solidFill>
            <a:srgbClr val="4A90D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1" name="Rect 0"/>
          <p:cNvSpPr>
            <a:spLocks/>
          </p:cNvSpPr>
          <p:nvPr/>
        </p:nvSpPr>
        <p:spPr>
          <a:xfrm rot="0">
            <a:off x="600075" y="307975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4A90D9"/>
                </a:solidFill>
                <a:latin typeface="Malgun Gothic" charset="0"/>
                <a:ea typeface="맑은 고딕" charset="0"/>
                <a:sym typeface="맑은 고딕" charset="0"/>
              </a:rPr>
              <a:t>02</a:t>
            </a:r>
            <a:endParaRPr lang="ko-KR" altLang="en-US" sz="2000" b="1">
              <a:solidFill>
                <a:srgbClr val="4A90D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1" name="Rect 0"/>
          <p:cNvSpPr>
            <a:spLocks/>
          </p:cNvSpPr>
          <p:nvPr/>
        </p:nvSpPr>
        <p:spPr>
          <a:xfrm rot="0">
            <a:off x="1200150" y="318008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하나의 조각으로 관리된다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1" name="Rect 0"/>
          <p:cNvSpPr>
            <a:spLocks/>
          </p:cNvSpPr>
          <p:nvPr/>
        </p:nvSpPr>
        <p:spPr>
          <a:xfrm rot="0">
            <a:off x="1200150" y="342011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4A90D9"/>
                </a:solidFill>
                <a:latin typeface="Consolas" charset="0"/>
                <a:ea typeface="맑은 고딕" charset="0"/>
                <a:sym typeface="맑은 고딕" charset="0"/>
              </a:rPr>
              <a:t>→ content · category · date · files · status 구조화</a:t>
            </a:r>
            <a:endParaRPr lang="ko-KR" altLang="en-US" sz="1200" b="1">
              <a:solidFill>
                <a:srgbClr val="4A90D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1" name="Rect 0"/>
          <p:cNvSpPr>
            <a:spLocks/>
          </p:cNvSpPr>
          <p:nvPr/>
        </p:nvSpPr>
        <p:spPr>
          <a:xfrm rot="0">
            <a:off x="1200150" y="363029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확장 가능한 설계가 유연한 제품을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2" name="Rect 0"/>
          <p:cNvSpPr>
            <a:spLocks/>
          </p:cNvSpPr>
          <p:nvPr/>
        </p:nvSpPr>
        <p:spPr>
          <a:xfrm rot="0">
            <a:off x="379730" y="3980180"/>
            <a:ext cx="90805" cy="1080770"/>
          </a:xfrm>
          <a:prstGeom prst="rect"/>
          <a:solidFill>
            <a:srgbClr val="34C75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2" name="Rect 0"/>
          <p:cNvSpPr>
            <a:spLocks/>
          </p:cNvSpPr>
          <p:nvPr/>
        </p:nvSpPr>
        <p:spPr>
          <a:xfrm rot="0">
            <a:off x="600075" y="418020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03</a:t>
            </a:r>
            <a:endParaRPr lang="ko-KR" altLang="en-US" sz="2000" b="1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2" name="Rect 0"/>
          <p:cNvSpPr>
            <a:spLocks/>
          </p:cNvSpPr>
          <p:nvPr/>
        </p:nvSpPr>
        <p:spPr>
          <a:xfrm rot="0">
            <a:off x="1200150" y="427990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선택한 결만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2" name="Rect 0"/>
          <p:cNvSpPr>
            <a:spLocks/>
          </p:cNvSpPr>
          <p:nvPr/>
        </p:nvSpPr>
        <p:spPr>
          <a:xfrm rot="0">
            <a:off x="1200150" y="451993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→ category 기반 필터링</a:t>
            </a:r>
            <a:endParaRPr lang="ko-KR" altLang="en-US" sz="1200" b="1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2" name="Rect 0"/>
          <p:cNvSpPr>
            <a:spLocks/>
          </p:cNvSpPr>
          <p:nvPr/>
        </p:nvSpPr>
        <p:spPr>
          <a:xfrm rot="0">
            <a:off x="1200150" y="473011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골라보는 경험이 아카이브를 의미있게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3" name="Rect 0"/>
          <p:cNvSpPr>
            <a:spLocks/>
          </p:cNvSpPr>
          <p:nvPr/>
        </p:nvSpPr>
        <p:spPr>
          <a:xfrm rot="0">
            <a:off x="379730" y="5080000"/>
            <a:ext cx="90805" cy="1080770"/>
          </a:xfrm>
          <a:prstGeom prst="rect"/>
          <a:solidFill>
            <a:srgbClr val="9B59B6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3" name="Rect 0"/>
          <p:cNvSpPr>
            <a:spLocks/>
          </p:cNvSpPr>
          <p:nvPr/>
        </p:nvSpPr>
        <p:spPr>
          <a:xfrm rot="0">
            <a:off x="600075" y="528002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9B59B6"/>
                </a:solidFill>
                <a:latin typeface="Malgun Gothic" charset="0"/>
                <a:ea typeface="맑은 고딕" charset="0"/>
                <a:sym typeface="맑은 고딕" charset="0"/>
              </a:rPr>
              <a:t>04</a:t>
            </a:r>
            <a:endParaRPr lang="ko-KR" altLang="en-US" sz="2000" b="1">
              <a:solidFill>
                <a:srgbClr val="9B59B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3" name="Rect 0"/>
          <p:cNvSpPr>
            <a:spLocks/>
          </p:cNvSpPr>
          <p:nvPr/>
        </p:nvSpPr>
        <p:spPr>
          <a:xfrm rot="0">
            <a:off x="1200150" y="537972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할일은 상태가 필요할 때만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3" name="Rect 0"/>
          <p:cNvSpPr>
            <a:spLocks/>
          </p:cNvSpPr>
          <p:nvPr/>
        </p:nvSpPr>
        <p:spPr>
          <a:xfrm rot="0">
            <a:off x="1200150" y="561975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9B59B6"/>
                </a:solidFill>
                <a:latin typeface="Consolas" charset="0"/>
                <a:ea typeface="맑은 고딕" charset="0"/>
                <a:sym typeface="맑은 고딕" charset="0"/>
              </a:rPr>
              <a:t>→ 조건부 UI + completedDate</a:t>
            </a:r>
            <a:endParaRPr lang="ko-KR" altLang="en-US" sz="1200" b="1">
              <a:solidFill>
                <a:srgbClr val="9B59B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3" name="Rect 0"/>
          <p:cNvSpPr>
            <a:spLocks/>
          </p:cNvSpPr>
          <p:nvPr/>
        </p:nvSpPr>
        <p:spPr>
          <a:xfrm rot="0">
            <a:off x="1200150" y="582993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필요한 순간에만 존재해야 한다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0" name="Rect 0"/>
          <p:cNvSpPr>
            <a:spLocks noGrp="1"/>
          </p:cNvSpPr>
          <p:nvPr/>
        </p:nvSpPr>
        <p:spPr>
          <a:xfrm rot="0">
            <a:off x="0" y="6219190"/>
            <a:ext cx="12192635" cy="63944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1" name="Rect 0"/>
          <p:cNvSpPr>
            <a:spLocks noGrp="1"/>
          </p:cNvSpPr>
          <p:nvPr/>
        </p:nvSpPr>
        <p:spPr>
          <a:xfrm rot="0">
            <a:off x="379730" y="6268720"/>
            <a:ext cx="11432540" cy="540385"/>
          </a:xfrm>
          <a:prstGeom prst="rect"/>
          <a:noFill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기획을 코드로 증명하는 PM — 개발자와 같은 언어로 말할 수 있다</a:t>
            </a:r>
            <a:endParaRPr lang="ko-KR" altLang="en-US" sz="12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2" name="Rect 0"/>
          <p:cNvSpPr>
            <a:spLocks noGrp="1"/>
          </p:cNvSpPr>
          <p:nvPr/>
        </p:nvSpPr>
        <p:spPr>
          <a:xfrm rot="0">
            <a:off x="379730" y="6699885"/>
            <a:ext cx="11432540" cy="18034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27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01.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저장과 불러오기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AsyncStorage로 로컬 저장 — 앱 종료 후에도 데이터 유지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🗄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️ AsyncStorage 패턴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getItem → 기록 불러오기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setItem → 기록 저장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isLoaded → 로드 전 저장 방지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71110" y="1863090"/>
            <a:ext cx="6733540" cy="343789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29200" y="165608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앱을 종료해도 기억하는 앱 — 신뢰는 데이터에서 시작된다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28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34C759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Code 02.</a:t>
            </a:r>
            <a:endParaRPr lang="ko-KR" altLang="en-US" sz="14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데이터 구조 설계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텍스트 · 카테고리 · 날짜 · 이미지 · 파일 · 할일 상태를 하나의 객체로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📐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Note 인터페이스</a:t>
            </a:r>
            <a:endParaRPr lang="ko-KR" altLang="en-US" sz="13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content / category → 핵심 내용과 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date / time → 달력 뷰와 시간 표시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imgs / files → 아카이브 확장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status / completedDate → 할일 조건부 적용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68680"/>
            <a:ext cx="6732905" cy="443166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4993005" y="55372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하나의 조각이 담을 수 있는 것들 — 설계가 확장성을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29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5856D6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Code 03.</a:t>
            </a:r>
            <a:endParaRPr lang="ko-KR" altLang="en-US" sz="14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카테고리별 기록 필터링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선택한 결 기준으로 전체 기록 중 해당 카테고리만 모아서 표시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🔍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동적 라우팅 필터링</a:t>
            </a:r>
            <a:endParaRPr lang="ko-KR" altLang="en-US" sz="13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useLocalSearchParams → URL에서 결 이름 수신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currentCategory → 안전한 타입 변환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.filter() → 해당 카테고리 기록만 추출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59790"/>
            <a:ext cx="6732905" cy="44405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83175" y="572135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5856D6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5856D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골라보는 공간 — 필터링이 탐색 UX를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30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11432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04.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 상태 관리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준비중·진행중·완료 상태 관리 — 완료 시 날짜 자동 저장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400425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✅ 상태 변경 + 완료일 기록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60071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handleStatusChange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상태 + 완료일 한번에 업데이트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completedDate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완료 전환 시에만 날짜 기록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준비중 / 진행중 / 완료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할일 카테고리일 때만 상태 UI 노출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79755" y="3399790"/>
            <a:ext cx="392049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4963160" y="779145"/>
            <a:ext cx="6733540" cy="45167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5280025" y="2400300"/>
            <a:ext cx="6332855" cy="275082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필요할 때만 보인다 — 조건부 UI가 앱의 밀도를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31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5" name="텍스트 상자 7"/>
          <p:cNvSpPr txBox="1">
            <a:spLocks/>
          </p:cNvSpPr>
          <p:nvPr/>
        </p:nvSpPr>
        <p:spPr>
          <a:xfrm rot="0">
            <a:off x="4984115" y="538480"/>
            <a:ext cx="4572635" cy="15430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000">
                <a:solidFill>
                  <a:schemeClr val="accent2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800">
              <a:solidFill>
                <a:schemeClr val="accent2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8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5200" dirty="0"/>
          </a:p>
        </p:txBody>
      </p:sp>
      <p:sp>
        <p:nvSpPr>
          <p:cNvPr id="3" name="Text 1"/>
          <p:cNvSpPr>
            <a:spLocks/>
          </p:cNvSpPr>
          <p:nvPr/>
        </p:nvSpPr>
        <p:spPr>
          <a:xfrm rot="0">
            <a:off x="0" y="1612900"/>
            <a:ext cx="12189460" cy="8235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42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작은 조각들이 쌓이면</a:t>
            </a:r>
            <a:endParaRPr lang="ko-KR" altLang="en-US" sz="42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4" name="Text 2"/>
          <p:cNvSpPr>
            <a:spLocks/>
          </p:cNvSpPr>
          <p:nvPr/>
        </p:nvSpPr>
        <p:spPr>
          <a:xfrm rot="0">
            <a:off x="109220" y="2435860"/>
            <a:ext cx="12189460" cy="8235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42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나를 이해하는 </a:t>
            </a:r>
            <a:r>
              <a:rPr lang="en-US" sz="42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자산</a:t>
            </a:r>
            <a:r>
              <a:rPr lang="en-US" sz="42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이 됩니다.</a:t>
            </a:r>
            <a:endParaRPr lang="ko-KR" altLang="en-US" sz="42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46090" y="4389120"/>
            <a:ext cx="1097280" cy="2730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617720"/>
            <a:ext cx="12189460" cy="50355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2200" b="1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감사합니다</a:t>
            </a:r>
            <a:endParaRPr lang="ko-KR" altLang="en-US" sz="2200" b="1">
              <a:solidFill>
                <a:srgbClr val="AEAEB2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8946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GitHub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github.com/ebj0925-cyber/memo_2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Email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kae8231@gmail.com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연락처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10-2784-2509</a:t>
            </a:r>
            <a:endParaRPr lang="ko-KR" altLang="en-US" sz="14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2" name="sparkle_end"/>
          <p:cNvPicPr>
            <a:picLocks noChangeAspect="1"/>
          </p:cNvPicPr>
          <p:nvPr/>
        </p:nvPicPr>
        <p:blipFill>
          <a:blip r:embed="rId_emoji_sparkle_s25"/>
          <a:stretch>
            <a:fillRect/>
          </a:stretch>
        </p:blipFill>
        <p:spPr>
          <a:xfrm>
            <a:off x="5751830" y="1394460"/>
            <a:ext cx="685800" cy="685800"/>
          </a:xfrm>
          <a:prstGeom prst="rect">
            <a:avLst/>
          </a:prstGeom>
        </p:spPr>
      </p:pic>
      <p:sp>
        <p:nvSpPr>
          <p:cNvPr id="203" name="텍스트 상자 1"/>
          <p:cNvSpPr txBox="1">
            <a:spLocks/>
          </p:cNvSpPr>
          <p:nvPr/>
        </p:nvSpPr>
        <p:spPr>
          <a:xfrm rot="0">
            <a:off x="4164965" y="3524885"/>
            <a:ext cx="3994150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 b="1">
                <a:solidFill>
                  <a:schemeClr val="bg1"/>
                </a:solidFill>
                <a:latin typeface="맑은 고딕" charset="0"/>
              </a:rPr>
              <a:t>조은정 · Product Manager</a:t>
            </a:r>
            <a:endParaRPr lang="ko-KR" altLang="en-US" sz="24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32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ThinkPiece PM Portfolio</dc:creator>
  <cp:lastModifiedBy>Cho EunJung</cp:lastModifiedBy>
  <dc:title>반짝이는 순간들 — PM 포트폴리오</dc:title>
  <dc:subject>PptxGenJS Presentation</dc:subject>
  <cp:version>10.105.306.56235</cp:version>
  <dcterms:modified xsi:type="dcterms:W3CDTF">2026-04-24T02:06:41Z</dcterms:modified>
</cp:coreProperties>
</file>