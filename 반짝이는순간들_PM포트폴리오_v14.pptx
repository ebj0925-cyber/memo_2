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57" r:id="rId5"/>
    <p:sldMasterId id="2147483658" r:id="rId6"/>
    <p:sldMasterId id="2147483659" r:id="rId8"/>
  </p:sldMasterIdLst>
  <p:notesMasterIdLst>
    <p:notesMasterId r:id="rId10"/>
  </p:notesMasterIdLst>
  <p:sldIdLst>
    <p:sldId id="256" r:id="rId12"/>
    <p:sldId id="257" r:id="rId14"/>
    <p:sldId id="258" r:id="rId16"/>
    <p:sldId id="259" r:id="rId18"/>
    <p:sldId id="260" r:id="rId20"/>
    <p:sldId id="261" r:id="rId22"/>
    <p:sldId id="262" r:id="rId24"/>
    <p:sldId id="263" r:id="rId26"/>
    <p:sldId id="264" r:id="rId28"/>
    <p:sldId id="265" r:id="rId30"/>
    <p:sldId id="266" r:id="rId32"/>
    <p:sldId id="267" r:id="rId34"/>
    <p:sldId id="268" r:id="rId36"/>
    <p:sldId id="269" r:id="rId38"/>
    <p:sldId id="270" r:id="rId40"/>
    <p:sldId id="271" r:id="rId41"/>
    <p:sldId id="272" r:id="rId43"/>
    <p:sldId id="293" r:id="rId45"/>
    <p:sldId id="281" r:id="rId46"/>
    <p:sldId id="282" r:id="rId47"/>
    <p:sldId id="291" r:id="rId48"/>
    <p:sldId id="274" r:id="rId49"/>
    <p:sldId id="275" r:id="rId51"/>
    <p:sldId id="276" r:id="rId53"/>
    <p:sldId id="277" r:id="rId55"/>
    <p:sldId id="278" r:id="rId57"/>
    <p:sldId id="294" r:id="rId58"/>
    <p:sldId id="283" r:id="rId59"/>
    <p:sldId id="284" r:id="rId60"/>
    <p:sldId id="285" r:id="rId61"/>
    <p:sldId id="292" r:id="rId62"/>
    <p:sldId id="280" r:id="rId63"/>
  </p:sldIdLst>
  <p:notesMasterIdLst/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5" Type="http://schemas.openxmlformats.org/officeDocument/2006/relationships/slideMaster" Target="slideMasters/slideMaster1.xml"></Relationship><Relationship Id="rId6" Type="http://schemas.openxmlformats.org/officeDocument/2006/relationships/slideMaster" Target="slideMasters/slideMaster2.xml"></Relationship><Relationship Id="rId7" Type="http://schemas.openxmlformats.org/officeDocument/2006/relationships/theme" Target="theme/theme2.xml"></Relationship><Relationship Id="rId8" Type="http://schemas.openxmlformats.org/officeDocument/2006/relationships/slideMaster" Target="slideMasters/slideMaster3.xml"></Relationship><Relationship Id="rId10" Type="http://schemas.openxmlformats.org/officeDocument/2006/relationships/notesMaster" Target="notesMasters/notesMaster1.xml"></Relationship><Relationship Id="rId12" Type="http://schemas.openxmlformats.org/officeDocument/2006/relationships/slide" Target="slides/slide1.xml"></Relationship><Relationship Id="rId14" Type="http://schemas.openxmlformats.org/officeDocument/2006/relationships/slide" Target="slides/slide2.xml"></Relationship><Relationship Id="rId16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20" Type="http://schemas.openxmlformats.org/officeDocument/2006/relationships/slide" Target="slides/slide5.xml"></Relationship><Relationship Id="rId22" Type="http://schemas.openxmlformats.org/officeDocument/2006/relationships/slide" Target="slides/slide6.xml"></Relationship><Relationship Id="rId24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8" Type="http://schemas.openxmlformats.org/officeDocument/2006/relationships/slide" Target="slides/slide9.xml"></Relationship><Relationship Id="rId30" Type="http://schemas.openxmlformats.org/officeDocument/2006/relationships/slide" Target="slides/slide10.xml"></Relationship><Relationship Id="rId32" Type="http://schemas.openxmlformats.org/officeDocument/2006/relationships/slide" Target="slides/slide11.xml"></Relationship><Relationship Id="rId34" Type="http://schemas.openxmlformats.org/officeDocument/2006/relationships/slide" Target="slides/slide12.xml"></Relationship><Relationship Id="rId36" Type="http://schemas.openxmlformats.org/officeDocument/2006/relationships/slide" Target="slides/slide13.xml"></Relationship><Relationship Id="rId38" Type="http://schemas.openxmlformats.org/officeDocument/2006/relationships/slide" Target="slides/slide14.xml"></Relationship><Relationship Id="rId40" Type="http://schemas.openxmlformats.org/officeDocument/2006/relationships/slide" Target="slides/slide15.xml"></Relationship><Relationship Id="rId41" Type="http://schemas.openxmlformats.org/officeDocument/2006/relationships/slide" Target="slides/slide16.xml"></Relationship><Relationship Id="rId43" Type="http://schemas.openxmlformats.org/officeDocument/2006/relationships/slide" Target="slides/slide17.xml"></Relationship><Relationship Id="rId45" Type="http://schemas.openxmlformats.org/officeDocument/2006/relationships/slide" Target="slides/slide18.xml"></Relationship><Relationship Id="rId46" Type="http://schemas.openxmlformats.org/officeDocument/2006/relationships/slide" Target="slides/slide19.xml"></Relationship><Relationship Id="rId47" Type="http://schemas.openxmlformats.org/officeDocument/2006/relationships/slide" Target="slides/slide20.xml"></Relationship><Relationship Id="rId48" Type="http://schemas.openxmlformats.org/officeDocument/2006/relationships/slide" Target="slides/slide21.xml"></Relationship><Relationship Id="rId49" Type="http://schemas.openxmlformats.org/officeDocument/2006/relationships/slide" Target="slides/slide22.xml"></Relationship><Relationship Id="rId51" Type="http://schemas.openxmlformats.org/officeDocument/2006/relationships/slide" Target="slides/slide23.xml"></Relationship><Relationship Id="rId53" Type="http://schemas.openxmlformats.org/officeDocument/2006/relationships/slide" Target="slides/slide24.xml"></Relationship><Relationship Id="rId55" Type="http://schemas.openxmlformats.org/officeDocument/2006/relationships/slide" Target="slides/slide25.xml"></Relationship><Relationship Id="rId57" Type="http://schemas.openxmlformats.org/officeDocument/2006/relationships/slide" Target="slides/slide26.xml"></Relationship><Relationship Id="rId58" Type="http://schemas.openxmlformats.org/officeDocument/2006/relationships/slide" Target="slides/slide27.xml"></Relationship><Relationship Id="rId59" Type="http://schemas.openxmlformats.org/officeDocument/2006/relationships/slide" Target="slides/slide28.xml"></Relationship><Relationship Id="rId60" Type="http://schemas.openxmlformats.org/officeDocument/2006/relationships/slide" Target="slides/slide29.xml"></Relationship><Relationship Id="rId61" Type="http://schemas.openxmlformats.org/officeDocument/2006/relationships/slide" Target="slides/slide30.xml"></Relationship><Relationship Id="rId62" Type="http://schemas.openxmlformats.org/officeDocument/2006/relationships/slide" Target="slides/slide31.xml"></Relationship><Relationship Id="rId63" Type="http://schemas.openxmlformats.org/officeDocument/2006/relationships/slide" Target="slides/slide32.xml"></Relationship><Relationship Id="rId68" Type="http://schemas.openxmlformats.org/officeDocument/2006/relationships/viewProps" Target="viewProps.xml"></Relationship><Relationship Id="rId69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4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7.xml"></Relationship></Relationships>
</file>

<file path=ppt/notesSlides/_rels/notesSlide2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3.xml"></Relationship></Relationships>
</file>

<file path=ppt/notesSlides/_rels/notesSlide2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4.xml"></Relationship></Relationships>
</file>

<file path=ppt/notesSlides/_rels/notesSlide2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5.xml"></Relationship></Relationships>
</file>

<file path=ppt/notesSlides/_rels/notesSlide2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6.xml"></Relationship></Relationships>
</file>

<file path=ppt/notesSlides/_rels/notesSlide27.xml.rels><?xml version="1.0" encoding="UTF-8"?>
<Relationships xmlns="http://schemas.openxmlformats.org/package/2006/relationships"><Relationship Id="rId1" Type="http://schemas.openxmlformats.org/officeDocument/2006/relationships/slide" Target="../slides/slide27.xml"></Relationship><Relationship Id="rId2" Type="http://schemas.openxmlformats.org/officeDocument/2006/relationships/notesMaster" Target="../notesMasters/notesMaster1.xml"></Relationship></Relationships>
</file>

<file path=ppt/notesSlides/_rels/notesSlide3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2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24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2.xm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3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theme" Target="../theme/theme1.xml"></Relationship></Relationships>
</file>

<file path=ppt/slideMasters/_rels/slideMaster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theme" Target="../theme/theme2.xml"></Relationship></Relationships>
</file>

<file path=ppt/slideMasters/_rels/slideMaster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theme" Target="../theme/theme3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1" Type="http://schemas.openxmlformats.org/officeDocument/2006/relationships/image" Target="../media/emoji_sparkle.png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8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9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0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1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3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4.xml"></Relationship></Relationships>
</file>

<file path=ppt/slides/_rels/slide15.xml.rels><?xml version="1.0" encoding="UTF-8"?>
<Relationships xmlns="http://schemas.openxmlformats.org/package/2006/relationships"><Relationship Id="rId2" Type="http://schemas.openxmlformats.org/officeDocument/2006/relationships/notesSlide" Target="../notesSlides/notesSlide15.xml"></Relationship><Relationship Id="rId3" Type="http://schemas.openxmlformats.org/officeDocument/2006/relationships/slideLayout" Target="../slideLayouts/slideLayout1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6.xm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7.xm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845890541.jpeg"></Relationship></Relationships>
</file>

<file path=ppt/slides/_rels/slide19.xml.rels><?xml version="1.0" encoding="UTF-8"?>
<Relationships xmlns="http://schemas.openxmlformats.org/package/2006/relationships"><Relationship Id="rId0" Type="http://schemas.openxmlformats.org/officeDocument/2006/relationships/image" Target="../media/screen_calendar.png"></Relationship><Relationship Id="rId1" Type="http://schemas.openxmlformats.org/officeDocument/2006/relationships/slideLayout" Target="../slideLayouts/slideLayout1.xml"></Relationship></Relationships>
</file>

<file path=ppt/slides/_rels/slide20.xml.rels><?xml version="1.0" encoding="UTF-8"?>
<Relationships xmlns="http://schemas.openxmlformats.org/package/2006/relationships"><Relationship Id="rId0" Type="http://schemas.openxmlformats.org/officeDocument/2006/relationships/image" Target="../media/screen_categories.png"></Relationship><Relationship Id="rId1" Type="http://schemas.openxmlformats.org/officeDocument/2006/relationships/slideLayout" Target="../slideLayouts/slideLayout1.xml"></Relationship></Relationships>
</file>

<file path=ppt/slides/_rels/slide21.xml.rels><?xml version="1.0" encoding="UTF-8"?>
<Relationships xmlns="http://schemas.openxmlformats.org/package/2006/relationships"><Relationship Id="rId0" Type="http://schemas.openxmlformats.org/officeDocument/2006/relationships/image" Target="../media/screen_todo_prep.png"></Relationship><Relationship Id="rId0" Type="http://schemas.openxmlformats.org/officeDocument/2006/relationships/image" Target="../media/screen_todo_prog.png"></Relationship><Relationship Id="rId0" Type="http://schemas.openxmlformats.org/officeDocument/2006/relationships/image" Target="../media/screen_todo_done.png"></Relationship><Relationship Id="rId1" Type="http://schemas.openxmlformats.org/officeDocument/2006/relationships/slideLayout" Target="../slideLayouts/slideLayout1.xm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2.xml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3.xm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4.xm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5.xml"></Relationship></Relationships>
</file>

<file path=ppt/slides/_rels/slide26.xml.rels><?xml version="1.0" encoding="UTF-8"?>
<Relationships xmlns="http://schemas.openxmlformats.org/package/2006/relationships"><Relationship Id="rId2" Type="http://schemas.openxmlformats.org/officeDocument/2006/relationships/notesSlide" Target="../notesSlides/notesSlide26.xml"></Relationship><Relationship Id="rId3" Type="http://schemas.openxmlformats.org/officeDocument/2006/relationships/slideLayout" Target="../slideLayouts/slideLayout1.xm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3.xml"></Relationship><Relationship Id="rId2" Type="http://schemas.openxmlformats.org/officeDocument/2006/relationships/notesSlide" Target="../notesSlides/notesSlide27.xml"></Relationship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
<Relationships xmlns="http://schemas.openxmlformats.org/package/2006/relationships"><Relationship Id="rId2" Type="http://schemas.openxmlformats.org/officeDocument/2006/relationships/notesSlide" Target="../notesSlides/notesSlide32.xml"></Relationship><Relationship Id="rId25" Type="http://schemas.openxmlformats.org/officeDocument/2006/relationships/image" Target="../media/emoji_sparkle.png"></Relationship><Relationship Id="rId26" Type="http://schemas.openxmlformats.org/officeDocument/2006/relationships/hyperlink" Target="mailto:kae8231@gmail.com" TargetMode="External"></Relationship><Relationship Id="rId27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PORTFOLIO ·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반짝이는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순간들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97280" y="3931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스쳐 지나가는 생각을 "결"별로 담아두는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메모 앱 기획 · 설계 · 개발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5760720"/>
            <a:ext cx="1005903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>발표자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조은정</a:t>
            </a: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>   ·   기간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2026.04.20 ~ 2026.0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5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.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0</a:t>
            </a:r>
            <a:r>
              <a:rPr lang="ko-KR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2</a:t>
            </a:r>
            <a:r>
              <a:rPr lang="en-US" sz="12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>   ·   역할 </a:t>
            </a:r>
            <a:r>
              <a:rPr lang="en-US" sz="1200" b="1">
                <a:solidFill>
                  <a:srgbClr val="1C1C1E"/>
                </a:solidFill>
                <a:latin typeface="Malgun Gothic" charset="0"/>
                <a:ea typeface="Malgun Gothic" charset="0"/>
                <a:cs typeface="Malgun Gothic" charset="0"/>
              </a:rPr>
              <a:t>기획 · UX · 개발 (1인)</a:t>
            </a:r>
            <a:endParaRPr lang="ko-KR" altLang="en-US" sz="1200" b="1">
              <a:solidFill>
                <a:srgbClr val="1C1C1E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pic>
        <p:nvPicPr>
          <p:cNvPr id="201" name="sparkle_title"/>
          <p:cNvPicPr>
            <a:picLocks noChangeAspect="1"/>
          </p:cNvPicPr>
          <p:nvPr/>
        </p:nvPicPr>
        <p:blipFill>
          <a:blip r:embed="rId_emoji_sparkle_s1"/>
          <a:stretch>
            <a:fillRect/>
          </a:stretch>
        </p:blipFill>
        <p:spPr>
          <a:xfrm>
            <a:off x="3840480" y="2653030"/>
            <a:ext cx="823595" cy="823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이야기의 흐름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시작의 고백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313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다이어리를 1달 쓰고 11달 비웁니다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2011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49440" y="20116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&amp; 가설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2313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"아이디어"만 부담이 없을까?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&amp; 페르소나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36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같은 사람이 또 있을까?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834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2834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원칙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3136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절대 하지 않을 5가지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6576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설계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9593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화면, 7개의 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6576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36576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의사결정 6가지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9440" y="39593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Trade-off로 증명하는 프로덕트 센스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4805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&amp; 측정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782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북극성과 Anti-Metric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44805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44805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&amp; 배움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47823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+ 기술, 다시 한다면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80160" y="5303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 투명성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5605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맡기고, 무엇을 지켰나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5303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49440" y="5303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× 의사결정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605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3줄의 코드가 만드는 제품 밀도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OPENING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다이어리를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1달 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쓰고 </a:t>
            </a:r>
            <a:pPr indent="0" marL="0">
              <a:buNone/>
            </a:pPr>
            <a:r>
              <a:rPr lang="en-US" sz="4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11달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비워둡니다.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― 이 프로젝트는 여기서 시작됐습니다.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731520" cy="36576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29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앱, 다이어리, 노션 — 뭐든 한 달을 못 갑니다.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딱 하나, 부담 없이 적는 게 있었습니다.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31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MY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나는 계속 실패할까?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앱에서 반복되는 나의 실패 패턴 3가지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056" y="2103120"/>
            <a:ext cx="73152" cy="384048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13816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3816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3816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폭발 → 2월 백지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"매일 써야 한다"는 부담감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88536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536" y="2103120"/>
            <a:ext cx="73152" cy="3840480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654296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메모장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296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54296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 리스트로만 가득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54296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54296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"정리 없는 카오스" 공포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29016" y="210312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9016" y="2103120"/>
            <a:ext cx="73152" cy="384048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4776" y="24688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📔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494776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94776" y="4023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94776" y="4251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만들다 지쳐 종료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94776" y="484632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이유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94776" y="50749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써야 한다"는 완벽주의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공통점 → </a:t>
            </a:r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써야 한다"는 부담이 기록을 멈추게 한다.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31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TURNING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하나, 부담이 없던 단어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0" y="1920240"/>
            <a:ext cx="3931920" cy="1463040"/>
          </a:xfrm>
          <a:prstGeom prst="rect">
            <a:avLst/>
          </a:prstGeom>
          <a:solidFill>
            <a:srgbClr val="FF9500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4114800" y="192024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645920" y="402336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아무때나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써도 된다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93280" y="402336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93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3336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하나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여도 된다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45920" y="498348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8600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말이 안 돼도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된다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93280" y="4983480"/>
            <a:ext cx="457200" cy="45720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32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3336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안 봐도</a:t>
            </a:r>
            <a:pPr indent="0" marL="0">
              <a:buNone/>
            </a:pPr>
            <a:r>
              <a:rPr lang="en-US" sz="16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 된다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852160"/>
            <a:ext cx="11091672" cy="64008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8521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발상: 이 "가벼움"을 모든 기록에 이식하면 어떨까?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31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MARKET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 같은 사람이 또 있을까?"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지인 10명 인터뷰 · 온라인 커뮤니티 리서치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"다이어리 사놓고 3일 썼어요"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17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"메모 앱 깔아놓고 안 켜요"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"노션은 너무 무거워서 포기"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45720" cy="5029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80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"잘 쓰려다가 오히려 못 써요"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0" y="2286000"/>
            <a:ext cx="4480560" cy="32918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2560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10명 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301752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8명</a:t>
            </a:r>
            <a:endParaRPr lang="en-US" sz="12000" dirty="0"/>
          </a:p>
        </p:txBody>
      </p:sp>
      <p:sp>
        <p:nvSpPr>
          <p:cNvPr id="16" name="Text 14"/>
          <p:cNvSpPr/>
          <p:nvPr/>
        </p:nvSpPr>
        <p:spPr>
          <a:xfrm>
            <a:off x="7132320" y="44805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비슷한 경험을 가지고 있었다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0" y="4937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이건 소수의 문제가 아니다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대부분의 메모 앱은 </a:t>
            </a:r>
            <a:pPr algn="ctr"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"기록을 잘 하는 사람"</a:t>
            </a:r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위해 설계되었다.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그런데 사용자의 다수는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"기록을 못 하는 사람"</a:t>
            </a:r>
            <a:pPr algn="ctr"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이다 → </a:t>
            </a:r>
            <a:pPr algn="ctr"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시장의 공백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31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PERSONAS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위한 앱인가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타겟: "산만형 창작자" — 생각은 많은데 흘려보내는 20~30대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056" y="1965960"/>
            <a:ext cx="3611880" cy="9144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728216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 (28)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28216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"출근길에 떠오른 아이디어가 회사 가면 사라져요"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아이폰 기본 메모 앱 — 찾기 너무 어려움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376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안에 쓰고, 나중에 쉽게 찾고 싶음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88536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88536" y="1965960"/>
            <a:ext cx="3611880" cy="9144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568696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현우 (32)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68696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프리랜서 디자이너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62856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"영감 노트 앱 5개 깔았지만 다 중간에 포기"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62856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62856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템플릿 만들다 지침, 에버노트 복잡함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62856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62856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예쁘게 쌓이고 감성적 회고 경험을 주는 도구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29016" y="1965960"/>
            <a:ext cx="36118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29016" y="1965960"/>
            <a:ext cx="3611880" cy="9144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03336" y="2240280"/>
            <a:ext cx="914400" cy="91440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03336" y="2240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409176" y="22860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소희 (24)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09176" y="26974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대학원생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03336" y="3429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"일기 쓰고 싶은데 매일 쓸 자신이 없어요"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03336" y="4434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03336" y="47091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다이어리 여러 번 실패, 스트릭 앱은 스트레스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403336" y="5440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03336" y="57150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날짜가 있어도 죄책감 없는 기록 공간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31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HYPOTHESIS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앱의 전제를 뒤집다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10312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메모 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"사용자는 정리를 잘 하고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싶어한다."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256032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120640" cy="21031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468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"사용자는 정리를 못 하는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3017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자신을 받아들이고 싶어한다."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핵심 가설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640080" cy="5486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548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"카테고리"라는 딱딱한 분류 대신 "결"이라는 감정 언어가 진입장벽을 낮춘다.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640080" cy="5486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440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5440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"완벽하게 쓰려는 부담"이 메모 포기의 원인이다 → 질문 프롬프트 + 바로 저장 UX로 해소.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31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PRODUCT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절대 하지 않을 5가지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추가 시 1차 필터가 되는 제품 원칙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스트릭 카운터를 만들지 않는다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4505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기록은 격려가 아니라 부담이다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036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2971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날짜를 부정적으로 표시하지 않는다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3192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11달 비어도 괜찮다는 감각을 지킨다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4592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분류를 강제하지 않는다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18795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기본값을 제공하고 바꾸고 싶을 때만 바꾼다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1772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1772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64592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제공하지 않는다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5056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템플릿은 "이렇게 써야 한다"는 강요다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167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486400"/>
            <a:ext cx="914400" cy="7772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48640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64592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알림으로 재촉하지 않는다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592531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WHY · </a:t>
            </a:r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알림이 이탈의 1순위 원인이다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31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3개의 화면, 하나의 여정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→ 회고 → 정리 — 사용자의 자연스러운 흐름을 설계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8056" y="2103120"/>
            <a:ext cx="3611880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조각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3816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(Capture)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떠오른 생각을 3초 안에 담는다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랜덤 속삭임 프롬프트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바텀시트 카테고리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이미지 첨부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88536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88536" y="2103120"/>
            <a:ext cx="3611880" cy="118872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54296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 다이어리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54296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(Revisit)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54296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언제 무슨 생각을 했는지 돌아본다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54296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54296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날짜별 달력 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조각 점 표시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빈 날짜 허용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9016" y="210312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29016" y="2103120"/>
            <a:ext cx="3611880" cy="118872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4776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94776" y="26974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 서랍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94776" y="34747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(Archive)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94776" y="3840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마음끼리 모아서 본다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94776" y="4800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94776" y="51206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7개 결 그리드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카테고리 아카이브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최신순 정렬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31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7 CATEGORIES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7가지 "결"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생각을 감정·용도별로 나누는 7개 서랍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73152" cy="9601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반짝 떠오른 발상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205740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2057400"/>
            <a:ext cx="73152" cy="960120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1945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560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기록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54680"/>
            <a:ext cx="73152" cy="96012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91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3444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인용·발견·감탄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15468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3154680"/>
            <a:ext cx="73152" cy="96012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291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4048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3657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관리 필요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251960"/>
            <a:ext cx="73152" cy="96012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389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3444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한마디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754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확언·격려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425196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4251960"/>
            <a:ext cx="73152" cy="96012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4389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◉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84048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40480" y="4754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일기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349240"/>
            <a:ext cx="73152" cy="96012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4864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234440" y="5486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34440" y="5852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놓치면 안 되는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2057400"/>
            <a:ext cx="5760720" cy="416052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7?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26480" y="2606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밀러의 법칙 (7±2)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12648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인간이 단기 기억으로 다룰 수 있는 항목 수의 한계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26480" y="3703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이하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7240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세분화 부족 → 분류가 무의미해짐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2648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이상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772400" y="4389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피로 → 분류를 포기함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26480" y="5074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72400" y="5074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최적점 · 감정 스펙트럼 충분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31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DECISION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"카테고리"가 아니라 "결"인가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하나가 사용자의 태도를 바꾼다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"카테고리를 선택하세요" — 업무적, 경직된 톤. 메모 앱을 일처럼 느끼게 만든다.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8056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468880"/>
            <a:ext cx="274320" cy="2743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"카테고리" 유지 — 관습적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834640"/>
            <a:ext cx="274320" cy="2743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"태그" — 중립, 일반적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200400"/>
            <a:ext cx="274320" cy="27432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— 감성, 차별화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2011680"/>
            <a:ext cx="3657600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2468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"결"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(Rationale)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감성(20~30대)과 톤 일치 — 업무가 아닌 자기 대화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톤("조각", "마음")과 일관된 어휘 생태계 구축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= 질감 + 흐름 + 감정 → 의미 확장성 우수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91672" cy="100584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 TRADE-OFF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사용자는 "결"의 의미를 바로 모를 수 있음 → 온보딩 1컷으로 보완 예정. 차별화 이익 &gt; 학습 비용으로 판단.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31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바텀시트 전환 예정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catScroll 가로 칩 → 계획: 바텀시트 전환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스크롤 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212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017520"/>
            <a:ext cx="1280160" cy="4572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40280" y="3017520"/>
            <a:ext cx="12801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메모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3017520"/>
            <a:ext cx="12801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017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영감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4개는 숨어있음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4663440" cy="36576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63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7개 중 3~4개만 보임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끝 카테고리 선택률 낮음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타이핑하며 스크롤 동작 어색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4922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 + 트리거 칩 하나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240" y="2834640"/>
            <a:ext cx="51206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3017520"/>
            <a:ext cx="1463040" cy="457200"/>
          </a:xfrm>
          <a:prstGeom prst="rect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17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 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3017520"/>
            <a:ext cx="3108960" cy="457200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566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+ 40%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114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넓어짐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4663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7개 전체 시각적 공평성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4983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입력창 공간 +40% 확보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5303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EditModal과 UX 일관성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897880"/>
            <a:ext cx="11091672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8978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"보이는 것"이 "쓰이는 것"을 결정한다 — 발견 가능성(Discoverability) 중심의 설계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31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DECISION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"할일"만 3단계 상태를 준 이유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UI — 기능을 언제 보여줄지가 프로덕트 센스다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82296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질문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조각(메모)에 "진행 상태"를 달면 어떨까?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394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카테고리에 상태를 붙이면...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"기분"에 "진행중"? → 어색함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"영감"에 "완료"? → 의미 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메모 = 작업 → 인지부담 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5422392" cy="201168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YES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"할일"일 때만 조건부로 노출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4023360"/>
            <a:ext cx="5029200" cy="82296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4114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(category === '할일')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show(상태_UI)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"기능은 많이 넣을 수 있다. 하지만 '언제 보여줄지'가 프로덕트 센스다."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더하기보다 "숨기기"가 어렵다는 걸 배운 결정.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31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메인+서브 결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subCategories 미구현 → v2.0 계획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54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실사용에서 발견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한 조각이 여러 결에 걸치는 경우가 많다 — </a:t>
            </a:r>
            <a:pPr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"엄마에게 전화"는 할일+기분, "좋은 말 들음"은 영감+중요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11880" cy="1143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1개 + 서브 여러개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(노션 스타일)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채택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제한적 복수 선택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(할일은 단독)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4108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복수 선택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4108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(최대 자유)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A안을 선택한 4가지 이유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1개 유지 → 카드 UI 규칙(컬러, 라벨) 단순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상태 UI 조건부 노출 로직 그대로 재사용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subCategories는 optional → 기존 데이터와 100% 호환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Select/Multi-select 패턴 → 학습 비용 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915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"단일 → 복수" 전환은 쉽다. 어려운 건 "메인이 무엇인지" 유지하는 규칙.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31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오늘 날짜 필터링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"빼는 결정"이 제품의 밀도를 만든다 (v1.2)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과거가 현재를 방해한다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홈 화면에 전체 타임라인을 보여주면 — </a:t>
            </a:r>
            <a:pPr indent="0" marL="0">
              <a:buNone/>
            </a:pPr>
            <a:r>
              <a:rPr lang="en-US" sz="1300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열 때마다 과거 조각들이 시선을 잡아 "오늘 쓰는 것"에 집중이 흐려진다.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타임라인 노출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(일반적)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3520440"/>
            <a:ext cx="3611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657600"/>
            <a:ext cx="320040" cy="320040"/>
          </a:xfrm>
          <a:prstGeom prst="ellipse">
            <a:avLst/>
          </a:prstGeom>
          <a:solidFill>
            <a:srgbClr val="FFF9F0"/>
          </a:solidFill>
          <a:ln w="12700">
            <a:solidFill>
              <a:srgbClr val="FFF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7일만 노출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(절충안)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520440"/>
            <a:ext cx="3611880" cy="11430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657600"/>
            <a:ext cx="320040" cy="3200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41080" y="36118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+ 날짜 배너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41080" y="4023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(집중의 설계)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2519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채택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— 역할 분리가 만든 밀도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= 오늘 전용 공간, 달력 = 과거 회고 공간 (역할 분리)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53035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5212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배너 + 주간 토글로 "다른 날로 이동"도 1탭 거리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메모가 쌓여도 홈 화면은 영원히 가볍게 유지됨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760720"/>
            <a:ext cx="182880" cy="182880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669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원칙 2번 "빈 날짜를 부정적으로 표시하지 않는다"와 일관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"더 보여주기"보다 "무엇을 감출지"가 PM의 실력이다.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31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 ·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[계획] 삭제 UX 설계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삭제 기능 미구현 → 계획: 롱프레스 삭제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카드마다 쓰레기통 아이콘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34640"/>
            <a:ext cx="91440" cy="128016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971800"/>
            <a:ext cx="457200" cy="457200"/>
          </a:xfrm>
          <a:prstGeom prst="ellipse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본문 내용...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실수로 누를 가능성 ↑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시각적 소음 증가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아이디어 앱에 위협적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누르기 + 편집 모달 내 버튼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2834640"/>
            <a:ext cx="5120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834640"/>
            <a:ext cx="91440" cy="128016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본문 내용...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794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 없음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297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길게 누르기 = 의도적 제스처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617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편집 모달에 명시적 삭제 버튼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937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카드가 깔끔해지고 집중도 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897880"/>
            <a:ext cx="11091672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978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삭제는 쉬워야 한다. 하지만 "실수로 쉬운" 것과 "의도적으로 쉬운" 것은 다르다.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31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 0"/>
          <p:cNvSpPr>
            <a:spLocks noGrp="1"/>
          </p:cNvSpPr>
          <p:nvPr/>
        </p:nvSpPr>
        <p:spPr>
          <a:xfrm rot="0">
            <a:off x="0" y="0"/>
            <a:ext cx="12192635" cy="180340"/>
          </a:xfrm>
          <a:prstGeom prst="rect"/>
          <a:solidFill>
            <a:srgbClr val="FF9500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9791700" y="219710"/>
            <a:ext cx="2200910" cy="40068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999999"/>
                </a:solidFill>
                <a:latin typeface="Malgun Gothic" charset="0"/>
                <a:ea typeface="맑은 고딕" charset="0"/>
                <a:sym typeface="맑은 고딕" charset="0"/>
              </a:rPr>
              <a:t>05 · SCREENS</a:t>
            </a:r>
            <a:endParaRPr lang="ko-KR" altLang="en-US" sz="1000">
              <a:solidFill>
                <a:srgbClr val="999999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400050" y="299720"/>
            <a:ext cx="4400550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Core Feature 01</a:t>
            </a:r>
            <a:endParaRPr lang="ko-KR" altLang="en-US" sz="1400">
              <a:solidFill>
                <a:srgbClr val="FF9500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3200">
                <a:solidFill>
                  <a:srgbClr val="1A1A1A"/>
                </a:solidFill>
                <a:latin typeface="Malgun Gothic" charset="0"/>
                <a:ea typeface="맑은 고딕" charset="0"/>
                <a:sym typeface="맑은 고딕" charset="0"/>
              </a:rPr>
              <a:t>오늘의 조각</a:t>
            </a:r>
            <a:endParaRPr lang="ko-KR" altLang="en-US" sz="3200">
              <a:solidFill>
                <a:srgbClr val="1A1A1A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666666"/>
                </a:solidFill>
                <a:latin typeface="Malgun Gothic" charset="0"/>
                <a:ea typeface="맑은 고딕" charset="0"/>
                <a:sym typeface="맑은 고딕" charset="0"/>
              </a:rPr>
              <a:t>빠른 기록 — 지금 이 순간을 3초 안에</a:t>
            </a:r>
            <a:endParaRPr lang="ko-KR" altLang="en-US" sz="1400">
              <a:solidFill>
                <a:srgbClr val="666666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7" name="Rect 0"/>
          <p:cNvSpPr>
            <a:spLocks noGrp="1"/>
          </p:cNvSpPr>
          <p:nvPr/>
        </p:nvSpPr>
        <p:spPr>
          <a:xfrm rot="0">
            <a:off x="400050" y="1299845"/>
            <a:ext cx="4000500" cy="40640"/>
          </a:xfrm>
          <a:prstGeom prst="rect"/>
          <a:solidFill>
            <a:srgbClr val="EEEEEE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400050" y="1400175"/>
            <a:ext cx="4448810" cy="320040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결(카테고리) 선택 → 텍스트 입력 → 저장 3단계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완성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오늘의 속삭임: 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   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랜덤 프롬프트로 기록 시작을 돕는다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사진 · 파일 첨부 기능으로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기록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확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장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녹음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은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향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후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확장예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정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작성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한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기록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을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홈에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서 바로 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확</a:t>
            </a:r>
            <a:r>
              <a:rPr lang="ko-KR"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인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400">
                <a:solidFill>
                  <a:srgbClr val="FF9500"/>
                </a:solidFill>
                <a:latin typeface="Malgun Gothic" charset="0"/>
                <a:ea typeface="맑은 고딕" charset="0"/>
                <a:sym typeface="맑은 고딕" charset="0"/>
              </a:rPr>
              <a:t>· </a:t>
            </a:r>
            <a:r>
              <a:rPr sz="14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오늘 날짜 기록만 홈에 표시 — 집중도 유지</a:t>
            </a:r>
            <a:endParaRPr lang="ko-KR" altLang="en-US" sz="14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sp>
        <p:nvSpPr>
          <p:cNvPr id="96" name="Rect 0"/>
          <p:cNvSpPr>
            <a:spLocks noGrp="1"/>
          </p:cNvSpPr>
          <p:nvPr/>
        </p:nvSpPr>
        <p:spPr>
          <a:xfrm rot="0">
            <a:off x="400050" y="5499735"/>
            <a:ext cx="4000500" cy="1000760"/>
          </a:xfrm>
          <a:prstGeom prst="rect"/>
          <a:solidFill>
            <a:srgbClr val="FFF8EE"/>
          </a:solidFill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" name="Rect 0"/>
          <p:cNvSpPr>
            <a:spLocks noGrp="1"/>
          </p:cNvSpPr>
          <p:nvPr/>
        </p:nvSpPr>
        <p:spPr>
          <a:xfrm rot="0">
            <a:off x="600075" y="5600065"/>
            <a:ext cx="3800475" cy="900430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000000"/>
                </a:solidFill>
                <a:latin typeface="Malgun Gothic" charset="0"/>
                <a:ea typeface="맑은 고딕" charset="0"/>
                <a:sym typeface="맑은 고딕" charset="0"/>
              </a:rPr>
              <a:t>💬</a:t>
            </a:r>
            <a:r>
              <a:rPr sz="1200">
                <a:solidFill>
                  <a:srgbClr val="000000"/>
                </a:solidFill>
                <a:latin typeface="Malgun Gothic" charset="0"/>
                <a:ea typeface="맑은 고딕" charset="0"/>
                <a:sym typeface="맑은 고딕" charset="0"/>
              </a:rPr>
              <a:t>  </a:t>
            </a:r>
            <a:r>
              <a:rPr sz="1200">
                <a:solidFill>
                  <a:srgbClr val="333333"/>
                </a:solidFill>
                <a:latin typeface="Malgun Gothic" charset="0"/>
                <a:ea typeface="맑은 고딕" charset="0"/>
                <a:sym typeface="맑은 고딕" charset="0"/>
              </a:rPr>
              <a:t>"완성된 글보다 시작할 수 있는 한 줄이 더 중요하다"</a:t>
            </a:r>
            <a:endParaRPr lang="ko-KR" altLang="en-US" sz="1200">
              <a:solidFill>
                <a:srgbClr val="333333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  <p:pic>
        <p:nvPicPr>
          <p:cNvPr id="50" name="Picture " descr="C:/Users/PC/AppData/Roaming/PolarisOffice/ETemp/13172_17804336/fImage4845890541.jpe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071110" y="234950"/>
            <a:ext cx="7029450" cy="6572885"/>
          </a:xfrm>
          <a:prstGeom prst="rect"/>
          <a:noFill/>
        </p:spPr>
      </p:pic>
      <p:sp>
        <p:nvSpPr>
          <p:cNvPr id="1" name="Rect 0"/>
          <p:cNvSpPr>
            <a:spLocks noGrp="1"/>
          </p:cNvSpPr>
          <p:nvPr/>
        </p:nvSpPr>
        <p:spPr>
          <a:xfrm rot="0">
            <a:off x="400050" y="6508115"/>
            <a:ext cx="11392535" cy="300355"/>
          </a:xfrm>
          <a:prstGeom prst="rect"/>
          <a:noFill/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AAAAA"/>
                </a:solidFill>
                <a:latin typeface="Malgun Gothic" charset="0"/>
                <a:ea typeface="맑은 고딕" charset="0"/>
                <a:sym typeface="맑은 고딕" charset="0"/>
              </a:rPr>
              <a:t>MyQuickNote · PM Portfolio</a:t>
            </a:r>
            <a:endParaRPr lang="ko-KR" altLang="en-US" sz="900">
              <a:solidFill>
                <a:srgbClr val="AAAAAA"/>
              </a:solidFill>
              <a:latin typeface="Malgun Gothic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5856D6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02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79730" y="699770"/>
            <a:ext cx="3940175" cy="65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34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생각 다이어리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400175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달력 회고 — 기록 있는 날짜에 점이 찍힌다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79730" y="1950085"/>
            <a:ext cx="3940175" cy="50165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79730" y="2049780"/>
            <a:ext cx="3940175" cy="29997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기록이 있는 날짜에 파란 점(·) 자동 표시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날짜 선택 시 그날의 조각만 필터링해서 보여준다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빈 날짜도 실패처럼 보이지 않게 설계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"이날은 아직 기록이 없어요" — 부정적 표현 배제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379730" y="5349875"/>
            <a:ext cx="3940175" cy="1149985"/>
          </a:xfrm>
          <a:prstGeom prst="rect">
            <a:avLst/>
          </a:prstGeom>
          <a:solidFill>
            <a:srgbClr val="FFF3E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79755" y="5429885"/>
            <a:ext cx="3540125" cy="1000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664400"/>
                </a:solidFill>
                <a:latin typeface="Malgun Gothic" pitchFamily="34" charset="0"/>
              </a:rPr>
              <a:t xml:space="preserve">"기록하지 않은 날도 실패가 아니라, 그냥 빈 날이다"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  <p:pic>
        <p:nvPicPr>
          <p:cNvPr id="50" name="img50" descr="C:/Users/PC/AppData/Roaming/PolarisOffice/ETemp/10556_21070664/screen_calendar.png"/>
          <p:cNvPicPr>
            <a:picLocks noChangeAspect="1"/>
          </p:cNvPicPr>
          <p:nvPr/>
        </p:nvPicPr>
        <p:blipFill rotWithShape="1">
          <a:blip r:embed="rId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946015" y="240665"/>
            <a:ext cx="7124065" cy="65576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34C75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03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79730" y="699770"/>
            <a:ext cx="3940175" cy="65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34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마음 서랍</a:t>
            </a: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400175"/>
            <a:ext cx="3940175" cy="4502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결별 아카이브 — 7개의 결로 모아보기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79730" y="1950085"/>
            <a:ext cx="3940175" cy="50165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379730" y="2049780"/>
            <a:ext cx="3940175" cy="29997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아이디어 · 메모 · 영감 · 할일 · 한마디 · 기분 · 중요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7개 고정 — Miller's Law 기반 인지 부담 최소화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결 클릭 시 해당 카테고리만 필터링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· </a:t>
            </a:r>
            <a:r>
              <a:rPr lang="ko-KR" sz="1300" dirty="0">
                <a:solidFill>
                  <a:srgbClr val="333333"/>
                </a:solidFill>
                <a:latin typeface="Malgun Gothic" pitchFamily="34" charset="0"/>
              </a:rPr>
              <a:t xml:space="preserve">색상 코드로 직관적 구분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379730" y="5349875"/>
            <a:ext cx="3940175" cy="1149985"/>
          </a:xfrm>
          <a:prstGeom prst="rect">
            <a:avLst/>
          </a:prstGeom>
          <a:solidFill>
            <a:srgbClr val="FFF3E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79755" y="5429885"/>
            <a:ext cx="3540125" cy="1000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664400"/>
                </a:solidFill>
                <a:latin typeface="Malgun Gothic" pitchFamily="34" charset="0"/>
              </a:rPr>
              <a:t xml:space="preserve">"7개로 고정 — 선택지가 많아지면 분류 자체가 부담이 된다"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  <p:pic>
        <p:nvPicPr>
          <p:cNvPr id="50" name="img50" descr="C:/Users/PC/AppData/Roaming/PolarisOffice/ETemp/10556_21070664/screen_categories.png"/>
          <p:cNvPicPr>
            <a:picLocks noChangeAspect="1"/>
          </p:cNvPicPr>
          <p:nvPr/>
        </p:nvPicPr>
        <p:blipFill rotWithShape="1">
          <a:blip r:embed="rId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433570" y="240665"/>
            <a:ext cx="7686040" cy="644080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25"/>
          </a:xfrm>
          <a:prstGeom prst="rect">
            <a:avLst/>
          </a:prstGeom>
          <a:solidFill>
            <a:srgbClr val="34C75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79730" y="240030"/>
            <a:ext cx="11431905" cy="42989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05 · Core Feature 04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 rot="0">
            <a:off x="379730" y="589280"/>
            <a:ext cx="11432540" cy="550545"/>
          </a:xfrm>
          <a:prstGeom prst="rect"/>
          <a:noFill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3400">
                <a:solidFill>
                  <a:srgbClr val="1A1A1A"/>
                </a:solidFill>
                <a:latin typeface="Malgun Gothic" charset="0"/>
              </a:rPr>
              <a:t>할일 상태 관리</a:t>
            </a:r>
            <a:endParaRPr lang="ko-KR" altLang="en-US" sz="3400">
              <a:solidFill>
                <a:srgbClr val="1A1A1A"/>
              </a:solidFill>
              <a:latin typeface="Malgun Gothic" charset="0"/>
            </a:endParaRPr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379730" y="1120140"/>
            <a:ext cx="11431905" cy="4000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할일일 때만 </a:t>
            </a: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준비중 → 진행중 → 완료</a:t>
            </a:r>
            <a:r>
              <a:rPr lang="ko-KR" sz="1300" dirty="0">
                <a:solidFill>
                  <a:srgbClr val="666666"/>
                </a:solidFill>
                <a:latin typeface="Malgun Gothic" pitchFamily="34" charset="0"/>
              </a:rPr>
              <a:t xml:space="preserve"> 3단계 상태 UI 노출</a:t>
            </a:r>
          </a:p>
        </p:txBody>
      </p:sp>
      <p:pic>
        <p:nvPicPr>
          <p:cNvPr id="51" name="img51"/>
          <p:cNvPicPr>
            <a:picLocks noChangeAspect="1"/>
          </p:cNvPicPr>
          <p:nvPr/>
        </p:nvPicPr>
        <p:blipFill>
          <a:blip r:embed="rId_prep"/>
          <a:stretch>
            <a:fillRect/>
          </a:stretch>
        </p:blipFill>
        <p:spPr>
          <a:xfrm>
            <a:off x="379730" y="1350010"/>
            <a:ext cx="3970020" cy="4208145"/>
          </a:xfrm>
          <a:prstGeom prst="rect">
            <a:avLst/>
          </a:prstGeom>
        </p:spPr>
      </p:pic>
      <p:pic>
        <p:nvPicPr>
          <p:cNvPr id="52" name="img52"/>
          <p:cNvPicPr>
            <a:picLocks noChangeAspect="1"/>
          </p:cNvPicPr>
          <p:nvPr/>
        </p:nvPicPr>
        <p:blipFill>
          <a:blip r:embed="rId_prog"/>
          <a:stretch>
            <a:fillRect/>
          </a:stretch>
        </p:blipFill>
        <p:spPr>
          <a:xfrm>
            <a:off x="4110990" y="1350010"/>
            <a:ext cx="3970020" cy="4208145"/>
          </a:xfrm>
          <a:prstGeom prst="rect">
            <a:avLst/>
          </a:prstGeom>
        </p:spPr>
      </p:pic>
      <p:pic>
        <p:nvPicPr>
          <p:cNvPr id="53" name="img53"/>
          <p:cNvPicPr>
            <a:picLocks noChangeAspect="1"/>
          </p:cNvPicPr>
          <p:nvPr/>
        </p:nvPicPr>
        <p:blipFill>
          <a:blip r:embed="rId_done"/>
          <a:stretch>
            <a:fillRect/>
          </a:stretch>
        </p:blipFill>
        <p:spPr>
          <a:xfrm>
            <a:off x="7842250" y="1350010"/>
            <a:ext cx="3970020" cy="4208145"/>
          </a:xfrm>
          <a:prstGeom prst="rect">
            <a:avLst/>
          </a:prstGeom>
        </p:spPr>
      </p:pic>
      <p:sp>
        <p:nvSpPr>
          <p:cNvPr id="20" name="r20"/>
          <p:cNvSpPr>
            <a:spLocks noGrp="1"/>
          </p:cNvSpPr>
          <p:nvPr/>
        </p:nvSpPr>
        <p:spPr>
          <a:xfrm>
            <a:off x="379730" y="5638165"/>
            <a:ext cx="3970020" cy="400050"/>
          </a:xfrm>
          <a:prstGeom prst="rect">
            <a:avLst/>
          </a:prstGeom>
          <a:solidFill>
            <a:srgbClr val="E8F4F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1" name="t21"/>
          <p:cNvSpPr>
            <a:spLocks noGrp="1"/>
          </p:cNvSpPr>
          <p:nvPr/>
        </p:nvSpPr>
        <p:spPr>
          <a:xfrm>
            <a:off x="37973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2196F3"/>
                </a:solidFill>
                <a:latin typeface="Malgun Gothic" pitchFamily="34" charset="0"/>
              </a:rPr>
              <a:t xml:space="preserve">준비중</a:t>
            </a:r>
          </a:p>
        </p:txBody>
      </p:sp>
      <p:sp>
        <p:nvSpPr>
          <p:cNvPr id="22" name="r22"/>
          <p:cNvSpPr>
            <a:spLocks noGrp="1"/>
          </p:cNvSpPr>
          <p:nvPr/>
        </p:nvSpPr>
        <p:spPr>
          <a:xfrm>
            <a:off x="4110990" y="5638165"/>
            <a:ext cx="3970020" cy="400050"/>
          </a:xfrm>
          <a:prstGeom prst="rect">
            <a:avLst/>
          </a:prstGeom>
          <a:solidFill>
            <a:srgbClr val="FFF3CD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3" name="t23"/>
          <p:cNvSpPr>
            <a:spLocks noGrp="1"/>
          </p:cNvSpPr>
          <p:nvPr/>
        </p:nvSpPr>
        <p:spPr>
          <a:xfrm>
            <a:off x="411099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F57C00"/>
                </a:solidFill>
                <a:latin typeface="Malgun Gothic" pitchFamily="34" charset="0"/>
              </a:rPr>
              <a:t xml:space="preserve">진행중</a:t>
            </a:r>
          </a:p>
        </p:txBody>
      </p:sp>
      <p:sp>
        <p:nvSpPr>
          <p:cNvPr id="24" name="r24"/>
          <p:cNvSpPr>
            <a:spLocks noGrp="1"/>
          </p:cNvSpPr>
          <p:nvPr/>
        </p:nvSpPr>
        <p:spPr>
          <a:xfrm>
            <a:off x="7842250" y="5638165"/>
            <a:ext cx="3970020" cy="400050"/>
          </a:xfrm>
          <a:prstGeom prst="rect">
            <a:avLst/>
          </a:prstGeom>
          <a:solidFill>
            <a:srgbClr val="E8F5E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5" name="t25"/>
          <p:cNvSpPr>
            <a:spLocks noGrp="1"/>
          </p:cNvSpPr>
          <p:nvPr/>
        </p:nvSpPr>
        <p:spPr>
          <a:xfrm>
            <a:off x="7842250" y="5638165"/>
            <a:ext cx="3970020" cy="4000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buNone/>
            </a:pPr>
            <a:r>
              <a:rPr lang="ko-KR" sz="1400" dirty="0">
                <a:b/>
                <a:solidFill>
                  <a:srgbClr val="388E3C"/>
                </a:solidFill>
                <a:latin typeface="Malgun Gothic" pitchFamily="34" charset="0"/>
              </a:rPr>
              <a:t xml:space="preserve">완료 ✓</a:t>
            </a:r>
          </a:p>
        </p:txBody>
      </p:sp>
      <p:sp>
        <p:nvSpPr>
          <p:cNvPr id="30" name="r30"/>
          <p:cNvSpPr>
            <a:spLocks noGrp="1"/>
          </p:cNvSpPr>
          <p:nvPr/>
        </p:nvSpPr>
        <p:spPr>
          <a:xfrm rot="0">
            <a:off x="-19685" y="6038850"/>
            <a:ext cx="12212320" cy="819785"/>
          </a:xfrm>
          <a:prstGeom prst="rect"/>
          <a:solidFill>
            <a:srgbClr val="111111"/>
          </a:solidFill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  <a:endParaRPr lang="ko-KR" altLang="en-US"/>
          </a:p>
        </p:txBody>
      </p:sp>
      <p:sp>
        <p:nvSpPr>
          <p:cNvPr id="31" name="t31"/>
          <p:cNvSpPr>
            <a:spLocks noGrp="1"/>
          </p:cNvSpPr>
          <p:nvPr/>
        </p:nvSpPr>
        <p:spPr>
          <a:xfrm rot="0">
            <a:off x="311150" y="6189345"/>
            <a:ext cx="11501120" cy="599440"/>
          </a:xfrm>
          <a:prstGeom prst="rect"/>
          <a:noFill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algn="l">
              <a:buFontTx/>
              <a:buNone/>
            </a:pPr>
            <a:r>
              <a:rPr lang="ko-KR" sz="1300">
                <a:solidFill>
                  <a:srgbClr val="34C759"/>
                </a:solidFill>
                <a:latin typeface="Malgun Gothic" charset="0"/>
              </a:rPr>
              <a:t>💡</a:t>
            </a:r>
            <a:r>
              <a:rPr lang="ko-KR" sz="1300">
                <a:solidFill>
                  <a:srgbClr val="34C759"/>
                </a:solidFill>
                <a:latin typeface="Malgun Gothic" charset="0"/>
              </a:rPr>
              <a:t>  </a:t>
            </a:r>
            <a:r>
              <a:rPr lang="ko-KR" sz="1300">
                <a:solidFill>
                  <a:srgbClr val="FFFFFF"/>
                </a:solidFill>
                <a:latin typeface="Malgun Gothic" charset="0"/>
              </a:rPr>
              <a:t>기능은 많이 넣을 수 있다 — 하지만 "언제 보여줄지"가 프로덕트 센스다</a:t>
            </a:r>
            <a:endParaRPr lang="ko-KR" altLang="en-US" sz="1300">
              <a:solidFill>
                <a:srgbClr val="FFFFFF"/>
              </a:solidFill>
              <a:latin typeface="Malgun Gothic" charset="0"/>
            </a:endParaRPr>
          </a:p>
        </p:txBody>
      </p:sp>
      <p:sp>
        <p:nvSpPr>
          <p:cNvPr id="32" name="t32"/>
          <p:cNvSpPr>
            <a:spLocks noGrp="1"/>
          </p:cNvSpPr>
          <p:nvPr/>
        </p:nvSpPr>
        <p:spPr>
          <a:xfrm>
            <a:off x="379730" y="6518275"/>
            <a:ext cx="11431905" cy="2800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성공을 측정할 것인가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지표 · KPI · Anti-Metric 3층 구조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NORTH STAR 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일주일 내 다시 돌아와 조각을 남기는 사용자 비율 (W1 Retention)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"메모 앱의 본질은 계속 쓰는 것. 재방문율이 모든 걸 말한다."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W1 Retention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후 7일 재방문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세션당 조각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쓸 때 담는 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5%+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카테고리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적게 쓰는 결 사용률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15400" y="3703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3840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915400" y="4389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아카이브 진입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15400" y="4663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"마음 서랍" 탭 방문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349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ANTI-METRIC · 올라가면 오히려 경고 신호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6692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세션당 체류시간 10분 초과 → 앱이 무거워진 신호 (목표는 3초 앱)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8978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일부 카테고리 70% 초과 → 결 구조 불균형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6126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알림 후 재방문 상승 → 원칙 5번(재촉하지 않기) 위반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31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앞으로의 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→ UX 고도화 → 데이터 → 동기화 → 감성 확장 → IP 커머스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9476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" y="2286000"/>
            <a:ext cx="1828800" cy="45720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6636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6636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결 · CRUD · 3탭 구조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6636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99716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99716" y="2286000"/>
            <a:ext cx="1828800" cy="45720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9716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36876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고도화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36876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네이밍 · 바텀시트 · 할일 상태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36876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19956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19956" y="2286000"/>
            <a:ext cx="1828800" cy="4572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9956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57116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57116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· 태그 · 내보내기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57116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진행중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0196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0196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0196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77356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77356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백업 · 로그인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77356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0436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0436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0436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97596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확장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97596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· 위젯 · 주간 리포트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97596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80676" y="2286000"/>
            <a:ext cx="1828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80676" y="2286000"/>
            <a:ext cx="1828800" cy="457200"/>
          </a:xfrm>
          <a:prstGeom prst="rect">
            <a:avLst/>
          </a:prstGeom>
          <a:solidFill>
            <a:srgbClr val="AEAEB2"/>
          </a:solidFill>
          <a:ln w="12700">
            <a:solidFill>
              <a:srgbClr val="AEAE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80676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117836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· 커머스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117836" y="33375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로고몽 · 굿즈 · 펀딩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117836" y="4343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029200"/>
            <a:ext cx="11091672" cy="132588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BM 방향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5440680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디지털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Freemium (월 2,900원) — 이미지 무제한 · 클라우드 백업 · 전용 테마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IP · 굿즈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마스코트 "로고몽" — 인형 · 스테이셔너리 · 가족 소통 키트 (앱 재진입 트리거)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31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6가지 — 제품과 기술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풀스택 프로젝트에서 체득한 제품 감각 + 개발자와 소통하는 언어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0936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ENGINEERING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109728" cy="12344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68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하나가 프로덕트 톤을 바꾼다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834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"카테고리→결", "저장→담기"만 바꿨는데 사용자 감정이 달라짐. 기능 설계 전 용어 설계.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57600"/>
            <a:ext cx="109728" cy="1234440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언제 보여줄지가 PM의 실력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상태를 조건부로 숨긴 결정이 프로덕트 밀도를 결정. 더하기보다 숨기기가 어렵다.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983480"/>
            <a:ext cx="109728" cy="1234440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20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51206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MVP는 빠를수록 더 많이 배운다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기획보다 2주 구현이 10배 더 배움. 본인이 사용자일 때 보이는 문제가 가장 정확.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2331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331720"/>
            <a:ext cx="109728" cy="1234440"/>
          </a:xfrm>
          <a:prstGeom prst="rect">
            <a:avLst/>
          </a:prstGeom>
          <a:solidFill>
            <a:srgbClr val="FF3B30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468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24688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기반 라우팅의 원리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2834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Expo Router에서 루트는 Stack, 탭은 Tabs. 이 구분이 안 되면 탭바가 두 줄로 쌓인다.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09360" y="36576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657600"/>
            <a:ext cx="109728" cy="1234440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0" y="3794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레이스 컨디션 방어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416052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AsyncStorage 로드 전 useEffect가 먼저 발동하면 데이터가 덮어써짐. isLoaded 플래그로 차단.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49834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4983480"/>
            <a:ext cx="109728" cy="1234440"/>
          </a:xfrm>
          <a:prstGeom prst="rect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51206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2320" y="51206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타임존 함정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54864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 Date('2026-04-23')은 UTC 해석. '/' 구분자로 바꿔야 로컬 시간대로 파싱된다.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3093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PM은 코드를 짜지 않아도, "개발자의 언어"를 이해하면 훨씬 좋은 파트너가 된다.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31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한다면 바꿀 3가지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비판 = 성장 잠재력의 증거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인터뷰를 먼저 했을 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376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376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기획 → 구현 → 검증 순서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최소 5명 인터뷰부터 시작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88536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62856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도구를 처음부터 심었을 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62856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62856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추측 기반의 KPI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62856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62856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Amplitude / PostHog 연동부터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9016" y="2103120"/>
            <a:ext cx="3611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03336" y="2377440"/>
            <a:ext cx="731520" cy="731520"/>
          </a:xfrm>
          <a:prstGeom prst="ellipse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336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3336" y="3291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앱 Teardown 보고서를 만들었을 것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03336" y="4206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BEFORE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03336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기존 앱들이 실패했는지 얕게 파악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03336" y="493776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NEXT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03336" y="5166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다음엔 상세 Teardown → 차별화 정교화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1672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31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AI COLLABORATION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협업 — 무엇을 맡기고, 무엇을 지켰나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2026년의 PM에게 필요한 것은 "AI 활용도"가 아니라 "AI 경계 설계 능력"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기여도 (by 개발 단계)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원칙 · 의사결정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249618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3317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 · 네이밍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299910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999105"/>
            <a:ext cx="521335" cy="201295"/>
          </a:xfrm>
          <a:prstGeom prst="rect">
            <a:avLst/>
          </a:prstGeom>
          <a:solidFill>
            <a:srgbClr val="5856D6"/>
          </a:solidFill>
          <a:ln w="12700">
            <a:solidFill>
              <a:srgbClr val="585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834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56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· IA 설계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350202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3502025"/>
            <a:ext cx="694690" cy="201295"/>
          </a:xfrm>
          <a:prstGeom prst="rect">
            <a:avLst/>
          </a:prstGeom>
          <a:solidFill>
            <a:srgbClr val="B2CEFE"/>
          </a:solidFill>
          <a:ln w="12700">
            <a:solidFill>
              <a:srgbClr val="B2CE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337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CE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· 문제 해결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400494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4004945"/>
            <a:ext cx="1737360" cy="201295"/>
          </a:xfrm>
          <a:prstGeom prst="rect">
            <a:avLst/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840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7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초안 · 디버깅 보조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71800" y="4507865"/>
            <a:ext cx="3474720" cy="201295"/>
          </a:xfrm>
          <a:prstGeom prst="rect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4507865"/>
            <a:ext cx="2432050" cy="201295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343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6629400" cy="640080"/>
          </a:xfrm>
          <a:prstGeom prst="rect">
            <a:avLst/>
          </a:prstGeom>
          <a:solidFill>
            <a:srgbClr val="FFF9F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029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⭐ 의사결정 = 0% — </a:t>
            </a:r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철학과 원칙은 100% 본인 판단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Human-in-the-Loop · 4가지 핵심 판단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233172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2423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0" y="240474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"결" 네이밍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5528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"카테고리"/"태그" 제안 → 본인: "결"로 재정의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0" y="315468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55280" y="322770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오늘만 필터링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5528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3가지 옵션 비교 → 본인: "집중의 설계" 관점 선택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0" y="397764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4069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955280" y="405066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할일 조건부 UI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5528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전체 상태 UI 구조 → 본인: 조건부로만 노출 결정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4800600"/>
            <a:ext cx="4572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4892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955280" y="4873625"/>
            <a:ext cx="3840480" cy="292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메인+서브 설계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955280" y="5166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AI: 3가지 옵션 → 본인: 제품 원칙 기준 A안 채택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897880"/>
            <a:ext cx="110915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구현 초안 · 디버깅 보조로 활용 — 제품 원칙 · 우선순위 · 최종 판단 · 검증은 직접 수행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MyQuickNote · PM Portfolio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91545" y="6492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31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548640" y="457200"/>
            <a:ext cx="2743835" cy="2749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 spc="400" b="1">
                <a:solidFill>
                  <a:srgbClr val="FF9500"/>
                </a:solidFill>
                <a:latin typeface="Malgun Gothic" charset="0"/>
                <a:ea typeface="Malgun Gothic" charset="0"/>
                <a:sym typeface="맑은 고딕" charset="0"/>
              </a:rPr>
              <a:t>10 · CODE × DECISION</a:t>
            </a:r>
            <a:endParaRPr lang="ko-KR" altLang="en-US" sz="1100" b="1">
              <a:solidFill>
                <a:srgbClr val="FF9500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3" name="Rect 0"/>
          <p:cNvSpPr>
            <a:spLocks/>
          </p:cNvSpPr>
          <p:nvPr/>
        </p:nvSpPr>
        <p:spPr>
          <a:xfrm rot="0">
            <a:off x="548640" y="822960"/>
            <a:ext cx="10973435" cy="5035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2800" b="1">
                <a:solidFill>
                  <a:srgbClr val="1C1C1E"/>
                </a:solidFill>
                <a:latin typeface="Malgun Gothic" charset="0"/>
                <a:ea typeface="Malgun Gothic" charset="0"/>
                <a:sym typeface="맑은 고딕" charset="0"/>
              </a:rPr>
              <a:t>코드로 증명하는 의사결정</a:t>
            </a:r>
            <a:endParaRPr lang="ko-KR" altLang="en-US" sz="2800" b="1">
              <a:solidFill>
                <a:srgbClr val="1C1C1E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548640" y="1325880"/>
            <a:ext cx="10973435" cy="32067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8E8E93"/>
                </a:solidFill>
                <a:latin typeface="Malgun Gothic" charset="0"/>
                <a:ea typeface="Malgun Gothic" charset="0"/>
                <a:sym typeface="맑은 고딕" charset="0"/>
              </a:rPr>
              <a:t>공부한 문법이 실제 제품 원칙으로 이어지는 순간 — "3줄의 코드가 제품 밀도를 만든다"</a:t>
            </a:r>
            <a:endParaRPr lang="ko-KR" altLang="en-US" sz="1200">
              <a:solidFill>
                <a:srgbClr val="8E8E93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548640" y="1828800"/>
            <a:ext cx="11092180" cy="1417955"/>
          </a:xfrm>
          <a:prstGeom prst="rect"/>
          <a:solidFill>
            <a:srgbClr val="FFFFFF"/>
          </a:solidFill>
          <a:ln w="12700" cap="flat" cmpd="sng">
            <a:solidFill>
              <a:srgbClr val="F2F2F7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548640" y="1828800"/>
            <a:ext cx="110490" cy="1417955"/>
          </a:xfrm>
          <a:prstGeom prst="rect"/>
          <a:solidFill>
            <a:srgbClr val="5856D6"/>
          </a:solidFill>
          <a:ln w="12700" cap="flat" cmpd="sng">
            <a:solidFill>
              <a:srgbClr val="5856D6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777240" y="1965960"/>
            <a:ext cx="549275" cy="3663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800" b="1">
                <a:solidFill>
                  <a:srgbClr val="5856D6"/>
                </a:solidFill>
                <a:latin typeface="Malgun Gothic" charset="0"/>
                <a:ea typeface="Malgun Gothic" charset="0"/>
                <a:sym typeface="맑은 고딕" charset="0"/>
              </a:rPr>
              <a:t>01</a:t>
            </a:r>
            <a:endParaRPr lang="ko-KR" altLang="en-US" sz="1800" b="1">
              <a:solidFill>
                <a:srgbClr val="5856D6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1371600" y="1965960"/>
            <a:ext cx="5029835" cy="2749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 b="1">
                <a:solidFill>
                  <a:srgbClr val="1C1C1E"/>
                </a:solidFill>
                <a:latin typeface="Malgun Gothic" charset="0"/>
                <a:ea typeface="Malgun Gothic" charset="0"/>
                <a:sym typeface="맑은 고딕" charset="0"/>
              </a:rPr>
              <a:t>Decision 03 — 기능은 필요할 때만</a:t>
            </a:r>
            <a:endParaRPr lang="ko-KR" altLang="en-US" sz="1300" b="1">
              <a:solidFill>
                <a:srgbClr val="1C1C1E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9" name="Rect 0"/>
          <p:cNvSpPr>
            <a:spLocks/>
          </p:cNvSpPr>
          <p:nvPr/>
        </p:nvSpPr>
        <p:spPr>
          <a:xfrm rot="0">
            <a:off x="1371600" y="2267585"/>
            <a:ext cx="50298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 i="1">
                <a:solidFill>
                  <a:srgbClr val="5856D6"/>
                </a:solidFill>
                <a:latin typeface="Malgun Gothic" charset="0"/>
                <a:ea typeface="Malgun Gothic" charset="0"/>
                <a:sym typeface="맑은 고딕" charset="0"/>
              </a:rPr>
              <a:t>📚</a:t>
            </a:r>
            <a:r>
              <a:rPr sz="1000" i="1">
                <a:solidFill>
                  <a:srgbClr val="5856D6"/>
                </a:solidFill>
                <a:latin typeface="Malgun Gothic" charset="0"/>
                <a:ea typeface="Malgun Gothic" charset="0"/>
                <a:sym typeface="맑은 고딕" charset="0"/>
              </a:rPr>
              <a:t> React 조건부 렌더링 (&amp;&amp;)</a:t>
            </a:r>
            <a:endParaRPr lang="ko-KR" altLang="en-US" sz="1000" i="1">
              <a:solidFill>
                <a:srgbClr val="5856D6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10" name="Rect 0"/>
          <p:cNvSpPr>
            <a:spLocks/>
          </p:cNvSpPr>
          <p:nvPr/>
        </p:nvSpPr>
        <p:spPr>
          <a:xfrm rot="0">
            <a:off x="1371600" y="2606040"/>
            <a:ext cx="5029835" cy="5949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>
                <a:solidFill>
                  <a:srgbClr val="8E8E93"/>
                </a:solidFill>
                <a:latin typeface="Malgun Gothic" charset="0"/>
                <a:ea typeface="Malgun Gothic" charset="0"/>
                <a:sym typeface="맑은 고딕" charset="0"/>
              </a:rPr>
              <a:t>할일일 때만 상태 UI 렌더링 → "기능 더하기보다 숨기기"의 구현</a:t>
            </a:r>
            <a:endParaRPr lang="ko-KR" altLang="en-US" sz="1100">
              <a:solidFill>
                <a:srgbClr val="8E8E93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12" name="Rect 0"/>
          <p:cNvSpPr>
            <a:spLocks/>
          </p:cNvSpPr>
          <p:nvPr/>
        </p:nvSpPr>
        <p:spPr>
          <a:xfrm rot="0">
            <a:off x="6858000" y="2103120"/>
            <a:ext cx="18294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900" b="1">
              <a:solidFill>
                <a:srgbClr val="5856D6"/>
              </a:solidFill>
              <a:latin typeface="Consolas" charset="0"/>
              <a:ea typeface="Consolas" charset="0"/>
              <a:sym typeface="맑은 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6858000" y="2331720"/>
            <a:ext cx="4572635" cy="6864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{category === '할일' &amp;&amp; (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&lt;View style={styles.statusGroup}&gt;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  {['준비중','진행중','완료'].map((s) =&gt; (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   &lt;TouchableOpacity onPress={() =&gt; handleStatusChange(s)}&gt;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      &lt;Text&gt;{s}&lt;/Text&gt;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    &lt;/TouchableOpacity&gt;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  ))}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&lt;/View&gt;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)}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</p:txBody>
      </p:sp>
      <p:sp>
        <p:nvSpPr>
          <p:cNvPr id="14" name="Rect 0"/>
          <p:cNvSpPr>
            <a:spLocks/>
          </p:cNvSpPr>
          <p:nvPr/>
        </p:nvSpPr>
        <p:spPr>
          <a:xfrm rot="0">
            <a:off x="548640" y="3337560"/>
            <a:ext cx="11092180" cy="1417955"/>
          </a:xfrm>
          <a:prstGeom prst="rect"/>
          <a:solidFill>
            <a:srgbClr val="FFFFFF"/>
          </a:solidFill>
          <a:ln w="12700" cap="flat" cmpd="sng">
            <a:solidFill>
              <a:srgbClr val="F2F2F7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5" name="Rect 0"/>
          <p:cNvSpPr>
            <a:spLocks/>
          </p:cNvSpPr>
          <p:nvPr/>
        </p:nvSpPr>
        <p:spPr>
          <a:xfrm rot="0">
            <a:off x="548640" y="3337560"/>
            <a:ext cx="110490" cy="1417955"/>
          </a:xfrm>
          <a:prstGeom prst="rect"/>
          <a:solidFill>
            <a:srgbClr val="FF9500"/>
          </a:solidFill>
          <a:ln w="12700" cap="flat" cmpd="sng">
            <a:solidFill>
              <a:srgbClr val="FF95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16" name="Rect 0"/>
          <p:cNvSpPr>
            <a:spLocks/>
          </p:cNvSpPr>
          <p:nvPr/>
        </p:nvSpPr>
        <p:spPr>
          <a:xfrm rot="0">
            <a:off x="777240" y="3474720"/>
            <a:ext cx="549275" cy="3663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800" b="1">
                <a:solidFill>
                  <a:srgbClr val="FF9500"/>
                </a:solidFill>
                <a:latin typeface="Malgun Gothic" charset="0"/>
                <a:ea typeface="Malgun Gothic" charset="0"/>
                <a:sym typeface="맑은 고딕" charset="0"/>
              </a:rPr>
              <a:t>02</a:t>
            </a:r>
            <a:endParaRPr lang="ko-KR" altLang="en-US" sz="1800" b="1">
              <a:solidFill>
                <a:srgbClr val="FF9500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17" name="Rect 0"/>
          <p:cNvSpPr>
            <a:spLocks/>
          </p:cNvSpPr>
          <p:nvPr/>
        </p:nvSpPr>
        <p:spPr>
          <a:xfrm rot="0">
            <a:off x="1371600" y="3474720"/>
            <a:ext cx="5029835" cy="2749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 b="1">
                <a:solidFill>
                  <a:srgbClr val="1C1C1E"/>
                </a:solidFill>
                <a:latin typeface="Malgun Gothic" charset="0"/>
                <a:ea typeface="Malgun Gothic" charset="0"/>
                <a:sym typeface="맑은 고딕" charset="0"/>
              </a:rPr>
              <a:t>Decision 02 — AsyncStorage 안전 저장</a:t>
            </a:r>
            <a:endParaRPr lang="ko-KR" altLang="en-US" sz="1300" b="1">
              <a:solidFill>
                <a:srgbClr val="1C1C1E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18" name="Rect 0"/>
          <p:cNvSpPr>
            <a:spLocks/>
          </p:cNvSpPr>
          <p:nvPr/>
        </p:nvSpPr>
        <p:spPr>
          <a:xfrm rot="0">
            <a:off x="1371600" y="3776345"/>
            <a:ext cx="50298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 i="1">
                <a:solidFill>
                  <a:srgbClr val="FF9500"/>
                </a:solidFill>
                <a:latin typeface="Malgun Gothic" charset="0"/>
                <a:ea typeface="Malgun Gothic" charset="0"/>
                <a:sym typeface="맑은 고딕" charset="0"/>
              </a:rPr>
              <a:t>🔒</a:t>
            </a:r>
            <a:r>
              <a:rPr sz="1000" i="1">
                <a:solidFill>
                  <a:srgbClr val="FF9500"/>
                </a:solidFill>
                <a:latin typeface="Malgun Gothic" charset="0"/>
                <a:ea typeface="Malgun Gothic" charset="0"/>
                <a:sym typeface="맑은 고딕" charset="0"/>
              </a:rPr>
              <a:t> isLoaded 패턴</a:t>
            </a:r>
            <a:endParaRPr lang="ko-KR" altLang="en-US" sz="1000" i="1">
              <a:solidFill>
                <a:srgbClr val="FF9500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19" name="Rect 0"/>
          <p:cNvSpPr>
            <a:spLocks/>
          </p:cNvSpPr>
          <p:nvPr/>
        </p:nvSpPr>
        <p:spPr>
          <a:xfrm rot="0">
            <a:off x="1371600" y="4114800"/>
            <a:ext cx="5029835" cy="5949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>
                <a:solidFill>
                  <a:srgbClr val="8E8E93"/>
                </a:solidFill>
                <a:latin typeface="Malgun Gothic" charset="0"/>
                <a:ea typeface="Malgun Gothic" charset="0"/>
                <a:sym typeface="맑은 고딕" charset="0"/>
              </a:rPr>
              <a:t>로드 전 저장 방지 → 기존 메모 유실 차단</a:t>
            </a:r>
            <a:endParaRPr lang="ko-KR" altLang="en-US" sz="1100">
              <a:solidFill>
                <a:srgbClr val="8E8E93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21" name="Rect 0"/>
          <p:cNvSpPr>
            <a:spLocks/>
          </p:cNvSpPr>
          <p:nvPr/>
        </p:nvSpPr>
        <p:spPr>
          <a:xfrm rot="0">
            <a:off x="6858000" y="3599180"/>
            <a:ext cx="18294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900" b="1">
              <a:solidFill>
                <a:srgbClr val="FF9500"/>
              </a:solidFill>
              <a:latin typeface="Consolas" charset="0"/>
              <a:ea typeface="Consolas" charset="0"/>
              <a:sym typeface="맑은 고딕" charset="0"/>
            </a:endParaRPr>
          </a:p>
        </p:txBody>
      </p:sp>
      <p:sp>
        <p:nvSpPr>
          <p:cNvPr id="22" name="Rect 0"/>
          <p:cNvSpPr>
            <a:spLocks/>
          </p:cNvSpPr>
          <p:nvPr/>
        </p:nvSpPr>
        <p:spPr>
          <a:xfrm rot="0">
            <a:off x="6858000" y="3840480"/>
            <a:ext cx="4572635" cy="6864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const [isLoaded, setIsLoaded] = useState(false);</a:t>
            </a:r>
            <a:endParaRPr lang="ko-KR" altLang="en-US" sz="12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endParaRPr lang="ko-KR" altLang="en-US" sz="12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useEffect(() =&gt; {</a:t>
            </a:r>
            <a:endParaRPr lang="ko-KR" altLang="en-US" sz="10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if (isLoaded) { saveNotes(notes); }</a:t>
            </a:r>
            <a:endParaRPr lang="ko-KR" altLang="en-US" sz="10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0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}, [notes, isLoaded]);</a:t>
            </a:r>
            <a:endParaRPr lang="ko-KR" altLang="en-US" sz="10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</p:txBody>
      </p:sp>
      <p:sp>
        <p:nvSpPr>
          <p:cNvPr id="23" name="Rect 0"/>
          <p:cNvSpPr>
            <a:spLocks/>
          </p:cNvSpPr>
          <p:nvPr/>
        </p:nvSpPr>
        <p:spPr>
          <a:xfrm rot="0">
            <a:off x="548640" y="4846320"/>
            <a:ext cx="11092180" cy="1417955"/>
          </a:xfrm>
          <a:prstGeom prst="rect"/>
          <a:solidFill>
            <a:srgbClr val="FFFFFF"/>
          </a:solidFill>
          <a:ln w="12700" cap="flat" cmpd="sng">
            <a:solidFill>
              <a:srgbClr val="F2F2F7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24" name="Rect 0"/>
          <p:cNvSpPr>
            <a:spLocks/>
          </p:cNvSpPr>
          <p:nvPr/>
        </p:nvSpPr>
        <p:spPr>
          <a:xfrm rot="0">
            <a:off x="548640" y="4846320"/>
            <a:ext cx="110490" cy="1417955"/>
          </a:xfrm>
          <a:prstGeom prst="rect"/>
          <a:solidFill>
            <a:srgbClr val="34C759"/>
          </a:solidFill>
          <a:ln w="12700" cap="flat" cmpd="sng">
            <a:solidFill>
              <a:srgbClr val="34C759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25" name="Rect 0"/>
          <p:cNvSpPr>
            <a:spLocks/>
          </p:cNvSpPr>
          <p:nvPr/>
        </p:nvSpPr>
        <p:spPr>
          <a:xfrm rot="0">
            <a:off x="777240" y="4983480"/>
            <a:ext cx="549275" cy="3663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800" b="1">
                <a:solidFill>
                  <a:srgbClr val="34C759"/>
                </a:solidFill>
                <a:latin typeface="Malgun Gothic" charset="0"/>
                <a:ea typeface="Malgun Gothic" charset="0"/>
                <a:sym typeface="맑은 고딕" charset="0"/>
              </a:rPr>
              <a:t>03</a:t>
            </a:r>
            <a:endParaRPr lang="ko-KR" altLang="en-US" sz="1800" b="1">
              <a:solidFill>
                <a:srgbClr val="34C759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26" name="Rect 0"/>
          <p:cNvSpPr>
            <a:spLocks/>
          </p:cNvSpPr>
          <p:nvPr/>
        </p:nvSpPr>
        <p:spPr>
          <a:xfrm rot="0">
            <a:off x="1371600" y="4983480"/>
            <a:ext cx="5029835" cy="27495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300" b="1">
                <a:solidFill>
                  <a:srgbClr val="1C1C1E"/>
                </a:solidFill>
                <a:latin typeface="Malgun Gothic" charset="0"/>
                <a:ea typeface="Malgun Gothic" charset="0"/>
                <a:sym typeface="맑은 고딕" charset="0"/>
              </a:rPr>
              <a:t>Decision 03 — 달력 기록 마킹</a:t>
            </a:r>
            <a:endParaRPr lang="ko-KR" altLang="en-US" sz="1300" b="1">
              <a:solidFill>
                <a:srgbClr val="1C1C1E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27" name="Rect 0"/>
          <p:cNvSpPr>
            <a:spLocks/>
          </p:cNvSpPr>
          <p:nvPr/>
        </p:nvSpPr>
        <p:spPr>
          <a:xfrm rot="0">
            <a:off x="1371600" y="5285105"/>
            <a:ext cx="50298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000" i="1">
                <a:solidFill>
                  <a:srgbClr val="34C759"/>
                </a:solidFill>
                <a:latin typeface="Malgun Gothic" charset="0"/>
                <a:ea typeface="Malgun Gothic" charset="0"/>
                <a:sym typeface="맑은 고딕" charset="0"/>
              </a:rPr>
              <a:t>📅</a:t>
            </a:r>
            <a:r>
              <a:rPr sz="1000" i="1">
                <a:solidFill>
                  <a:srgbClr val="34C759"/>
                </a:solidFill>
                <a:latin typeface="Malgun Gothic" charset="0"/>
                <a:ea typeface="Malgun Gothic" charset="0"/>
                <a:sym typeface="맑은 고딕" charset="0"/>
              </a:rPr>
              <a:t> useMemo + markedDates</a:t>
            </a:r>
            <a:endParaRPr lang="ko-KR" altLang="en-US" sz="1000" i="1">
              <a:solidFill>
                <a:srgbClr val="34C759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28" name="Rect 0"/>
          <p:cNvSpPr>
            <a:spLocks/>
          </p:cNvSpPr>
          <p:nvPr/>
        </p:nvSpPr>
        <p:spPr>
          <a:xfrm rot="0">
            <a:off x="1371600" y="5623560"/>
            <a:ext cx="5029835" cy="5949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100">
                <a:solidFill>
                  <a:srgbClr val="8E8E93"/>
                </a:solidFill>
                <a:latin typeface="Malgun Gothic" charset="0"/>
                <a:ea typeface="Malgun Gothic" charset="0"/>
                <a:sym typeface="맑은 고딕" charset="0"/>
              </a:rPr>
              <a:t>기록 있는 날짜 점 표시 → 달력 핵심 UX</a:t>
            </a:r>
            <a:endParaRPr lang="ko-KR" altLang="en-US" sz="1100">
              <a:solidFill>
                <a:srgbClr val="8E8E93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30" name="Rect 0"/>
          <p:cNvSpPr>
            <a:spLocks/>
          </p:cNvSpPr>
          <p:nvPr/>
        </p:nvSpPr>
        <p:spPr>
          <a:xfrm rot="0">
            <a:off x="6858000" y="5120640"/>
            <a:ext cx="18294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900" b="1">
              <a:solidFill>
                <a:srgbClr val="34C759"/>
              </a:solidFill>
              <a:latin typeface="Consolas" charset="0"/>
              <a:ea typeface="Consolas" charset="0"/>
              <a:sym typeface="맑은 고딕" charset="0"/>
            </a:endParaRPr>
          </a:p>
        </p:txBody>
      </p:sp>
      <p:sp>
        <p:nvSpPr>
          <p:cNvPr id="31" name="Rect 0"/>
          <p:cNvSpPr>
            <a:spLocks/>
          </p:cNvSpPr>
          <p:nvPr/>
        </p:nvSpPr>
        <p:spPr>
          <a:xfrm rot="0">
            <a:off x="6858000" y="5349240"/>
            <a:ext cx="4572635" cy="6864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const markedDates = useMemo(() =&gt; {</a:t>
            </a:r>
            <a:endParaRPr lang="ko-KR" altLang="en-US" sz="12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const marks: any = {};</a:t>
            </a:r>
            <a:endParaRPr lang="ko-KR" altLang="en-US" sz="12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allNotes.forEach((note) =&gt; {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  const dk = convertFormat(note.date);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  if (dk) marks[dk] = { marked: true };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});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marks[selectedDate] = { ...marks[selectedDate], selected: true };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  return marks;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FFFFFF"/>
                </a:solidFill>
                <a:latin typeface="Consolas" charset="0"/>
                <a:ea typeface="Consolas" charset="0"/>
                <a:sym typeface="맑은 고딕" charset="0"/>
              </a:rPr>
              <a:t>}, [allNotes, selectedDate]);</a:t>
            </a:r>
            <a:endParaRPr lang="ko-KR" altLang="en-US" sz="900">
              <a:solidFill>
                <a:srgbClr val="FFFFFF"/>
              </a:solidFill>
              <a:latin typeface="Consolas" charset="0"/>
              <a:ea typeface="Consolas" charset="0"/>
              <a:sym typeface="맑은 고딕" charset="0"/>
            </a:endParaRPr>
          </a:p>
        </p:txBody>
      </p:sp>
      <p:sp>
        <p:nvSpPr>
          <p:cNvPr id="32" name="Rect 0"/>
          <p:cNvSpPr>
            <a:spLocks/>
          </p:cNvSpPr>
          <p:nvPr/>
        </p:nvSpPr>
        <p:spPr>
          <a:xfrm rot="0">
            <a:off x="548640" y="6309360"/>
            <a:ext cx="11092180" cy="366395"/>
          </a:xfrm>
          <a:prstGeom prst="rect"/>
          <a:solidFill>
            <a:srgbClr val="FFF9F0"/>
          </a:solidFill>
          <a:ln w="12700" cap="flat" cmpd="sng">
            <a:solidFill>
              <a:srgbClr val="FF95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endParaRPr lang="ko-KR" altLang="en-US" sz="1800">
              <a:latin typeface="Calibri" charset="0"/>
              <a:ea typeface="맑은 고딕" charset="0"/>
              <a:sym typeface="맑은 고딕" charset="0"/>
            </a:endParaRPr>
          </a:p>
        </p:txBody>
      </p:sp>
      <p:sp>
        <p:nvSpPr>
          <p:cNvPr id="33" name="Rect 0"/>
          <p:cNvSpPr>
            <a:spLocks/>
          </p:cNvSpPr>
          <p:nvPr/>
        </p:nvSpPr>
        <p:spPr>
          <a:xfrm rot="0">
            <a:off x="548640" y="6309360"/>
            <a:ext cx="11092180" cy="36639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r>
              <a:rPr sz="1200" b="1">
                <a:solidFill>
                  <a:srgbClr val="FF9500"/>
                </a:solidFill>
                <a:latin typeface="Malgun Gothic" charset="0"/>
                <a:ea typeface="Malgun Gothic" charset="0"/>
                <a:sym typeface="맑은 고딕" charset="0"/>
              </a:rPr>
              <a:t>💡</a:t>
            </a:r>
            <a:r>
              <a:rPr sz="1200" b="1">
                <a:solidFill>
                  <a:srgbClr val="FF9500"/>
                </a:solidFill>
                <a:latin typeface="Malgun Gothic" charset="0"/>
                <a:ea typeface="Malgun Gothic" charset="0"/>
                <a:sym typeface="맑은 고딕" charset="0"/>
              </a:rPr>
              <a:t> 문법은 작지만, 결정은 크다 — PM이 코드를 이해하면 개발자와 "같은 언어"로 말할 수 있다.</a:t>
            </a:r>
            <a:endParaRPr lang="ko-KR" altLang="en-US" sz="1200" b="1">
              <a:solidFill>
                <a:srgbClr val="FF9500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34" name="Rect 0"/>
          <p:cNvSpPr>
            <a:spLocks/>
          </p:cNvSpPr>
          <p:nvPr/>
        </p:nvSpPr>
        <p:spPr>
          <a:xfrm rot="0">
            <a:off x="457200" y="6492240"/>
            <a:ext cx="36582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900">
                <a:solidFill>
                  <a:srgbClr val="AEAEB2"/>
                </a:solidFill>
                <a:latin typeface="Malgun Gothic" charset="0"/>
                <a:ea typeface="Malgun Gothic" charset="0"/>
                <a:sym typeface="맑은 고딕" charset="0"/>
              </a:rPr>
              <a:t>MyQuickNote · PM Portfolio</a:t>
            </a:r>
            <a:endParaRPr lang="ko-KR" altLang="en-US" sz="900">
              <a:solidFill>
                <a:srgbClr val="AEAEB2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  <p:sp>
        <p:nvSpPr>
          <p:cNvPr id="35" name="Rect 0"/>
          <p:cNvSpPr>
            <a:spLocks/>
          </p:cNvSpPr>
          <p:nvPr/>
        </p:nvSpPr>
        <p:spPr>
          <a:xfrm rot="0">
            <a:off x="11091545" y="6492240"/>
            <a:ext cx="915035" cy="229235"/>
          </a:xfrm>
          <a:prstGeom prst="rect"/>
          <a:noFill/>
          <a:ln cap="flat" cmpd="sng">
            <a:prstDash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900">
                <a:solidFill>
                  <a:srgbClr val="AEAEB2"/>
                </a:solidFill>
                <a:latin typeface="Malgun Gothic" charset="0"/>
                <a:ea typeface="Malgun Gothic" charset="0"/>
                <a:sym typeface="맑은 고딕" charset="0"/>
              </a:rPr>
              <a:t>24 / 25</a:t>
            </a:r>
            <a:endParaRPr lang="ko-KR" altLang="en-US" sz="900">
              <a:solidFill>
                <a:srgbClr val="AEAEB2"/>
              </a:solidFill>
              <a:latin typeface="Malgun Gothic" charset="0"/>
              <a:ea typeface="Malgun Gothic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FF950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80000" y="240000"/>
            <a:ext cx="432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10 · CODE × DECISION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80000" y="680000"/>
            <a:ext cx="4320000" cy="10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400" dirty="0">
                <a:b/>
                <a:solidFill>
                  <a:srgbClr val="FF9500"/>
                </a:solidFill>
                <a:latin typeface="Malgun Gothic" pitchFamily="34" charset="0"/>
              </a:rPr>
              <a:t xml:space="preserve">Decision 01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28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조건부 렌더링</a:t>
            </a:r>
          </a:p>
          <a:p>
            <a:pPr algn="l">
              <a:buNone/>
              <a:spcBef>
                <a:spcPts val="100"/>
              </a:spcBef>
            </a:pPr>
            <a:r>
              <a:rPr lang="ko-KR" sz="1200" dirty="0">
                <a:solidFill>
                  <a:srgbClr val="666666"/>
                </a:solidFill>
                <a:latin typeface="Malgun Gothic" pitchFamily="34" charset="0"/>
              </a:rPr>
              <a:t xml:space="preserve">할일일 때만 상태 UI 노출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80000" y="1900000"/>
            <a:ext cx="4320000" cy="3300000"/>
          </a:xfrm>
          <a:prstGeom prst="rect">
            <a:avLst/>
          </a:prstGeom>
          <a:solidFill>
            <a:srgbClr val="FFF8F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580000" y="1980000"/>
            <a:ext cx="3920000" cy="5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b/>
                <a:solidFill>
                  <a:srgbClr val="FF9500"/>
                </a:solidFill>
                <a:latin typeface="Malgun Gothic" pitchFamily="34" charset="0"/>
              </a:rPr>
              <a:t xml:space="preserve">📱 React 조건부 렌더링 (&amp;&amp;)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580000" y="2580000"/>
            <a:ext cx="3920000" cy="2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444444"/>
                </a:solidFill>
                <a:latin typeface="Malgun Gothic" pitchFamily="34" charset="0"/>
              </a:rPr>
              <a:t xml:space="preserve">할일일 때만 상태 UI 렌더링
기능 더하기보다 숨기기의 구현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5080000" y="1900000"/>
            <a:ext cx="6732000" cy="34000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280000" y="1970000"/>
            <a:ext cx="9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FF9500"/>
                </a:solidFill>
                <a:latin typeface="Consolas" pitchFamily="34" charset="0"/>
              </a:rPr>
              <a:t xml:space="preserve">code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5280000" y="2400000"/>
            <a:ext cx="6332000" cy="27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{category === '할일' &amp;&amp; (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&lt;View style={styles.statusGroup}&gt;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{['준비중','진행중','완료'].map((item) =&gt; (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  &lt;TouchableOpacity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    key={item} onPress={() =&gt; handleStatusChange(item)}&gt;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    &lt;Text&gt;{item}&lt;/Text&gt;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  &lt;/TouchableOpacity&gt;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))}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&lt;/View&gt;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)}</a:t>
            </a:r>
          </a:p>
        </p:txBody>
      </p:sp>
      <p:sp>
        <p:nvSpPr>
          <p:cNvPr id="13" name="r13"/>
          <p:cNvSpPr>
            <a:spLocks noGrp="1"/>
          </p:cNvSpPr>
          <p:nvPr/>
        </p:nvSpPr>
        <p:spPr>
          <a:xfrm>
            <a:off x="0" y="5500000"/>
            <a:ext cx="12192000" cy="1050000"/>
          </a:xfrm>
          <a:prstGeom prst="rect">
            <a:avLst/>
          </a:prstGeom>
          <a:solidFill>
            <a:srgbClr val="111111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380000" y="5580000"/>
            <a:ext cx="11432000" cy="9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FF9500"/>
                </a:solidFill>
                <a:latin typeface="Malgun Gothic" pitchFamily="34" charset="0"/>
              </a:rPr>
              <a:t xml:space="preserve">💡  </a:t>
            </a:r>
            <a:r>
              <a:rPr lang="ko-KR" sz="1300" dirty="0">
                <a:solidFill>
                  <a:srgbClr val="FFFFFF"/>
                </a:solidFill>
                <a:latin typeface="Malgun Gothic" pitchFamily="34" charset="0"/>
              </a:rPr>
              <a:t xml:space="preserve">문법은 작지만 결정은 크다 — 기능의 존재보다 노출 시점이 제품을 만든다</a:t>
            </a:r>
          </a:p>
        </p:txBody>
      </p:sp>
      <p:sp>
        <p:nvSpPr>
          <p:cNvPr id="9" name="t9"/>
          <p:cNvSpPr>
            <a:spLocks noGrp="1"/>
          </p:cNvSpPr>
          <p:nvPr/>
        </p:nvSpPr>
        <p:spPr>
          <a:xfrm>
            <a:off x="380000" y="6518000"/>
            <a:ext cx="11432000" cy="2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34C759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80000" y="240000"/>
            <a:ext cx="432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10 · CODE × DECISION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80000" y="680000"/>
            <a:ext cx="4320000" cy="10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4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Decision 02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28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AsyncStorage 안전 저장</a:t>
            </a:r>
          </a:p>
          <a:p>
            <a:pPr algn="l">
              <a:buNone/>
              <a:spcBef>
                <a:spcPts val="100"/>
              </a:spcBef>
            </a:pPr>
            <a:r>
              <a:rPr lang="ko-KR" sz="1200" dirty="0">
                <a:solidFill>
                  <a:srgbClr val="666666"/>
                </a:solidFill>
                <a:latin typeface="Malgun Gothic" pitchFamily="34" charset="0"/>
              </a:rPr>
              <a:t xml:space="preserve">로드 전 저장 방지 — 기존 메모 유실 차단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80000" y="1900000"/>
            <a:ext cx="4320000" cy="3300000"/>
          </a:xfrm>
          <a:prstGeom prst="rect">
            <a:avLst/>
          </a:prstGeom>
          <a:solidFill>
            <a:srgbClr val="FFF8F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580000" y="1980000"/>
            <a:ext cx="3920000" cy="5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b/>
                <a:solidFill>
                  <a:srgbClr val="34C759"/>
                </a:solidFill>
                <a:latin typeface="Malgun Gothic" pitchFamily="34" charset="0"/>
              </a:rPr>
              <a:t xml:space="preserve">🔒 isLoaded 패턴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580000" y="2580000"/>
            <a:ext cx="3920000" cy="2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444444"/>
                </a:solidFill>
                <a:latin typeface="Malgun Gothic" pitchFamily="34" charset="0"/>
              </a:rPr>
              <a:t xml:space="preserve">로드 완료 전에 저장이 실행되면
기존 메모가 빈 배열로 덮어씌워진다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5080000" y="1900000"/>
            <a:ext cx="6732000" cy="34000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280000" y="1970000"/>
            <a:ext cx="9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34C759"/>
                </a:solidFill>
                <a:latin typeface="Consolas" pitchFamily="34" charset="0"/>
              </a:rPr>
              <a:t xml:space="preserve">code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5280000" y="2400000"/>
            <a:ext cx="6332000" cy="27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const [isLoaded, setIsLoaded] = useState(false);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/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useEffect(() =&gt; {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if (isLoaded) {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saveNotes(notes);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}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}, [notes, isLoaded]);</a:t>
            </a:r>
          </a:p>
        </p:txBody>
      </p:sp>
      <p:sp>
        <p:nvSpPr>
          <p:cNvPr id="13" name="r13"/>
          <p:cNvSpPr>
            <a:spLocks noGrp="1"/>
          </p:cNvSpPr>
          <p:nvPr/>
        </p:nvSpPr>
        <p:spPr>
          <a:xfrm>
            <a:off x="0" y="5500000"/>
            <a:ext cx="12192000" cy="1050000"/>
          </a:xfrm>
          <a:prstGeom prst="rect">
            <a:avLst/>
          </a:prstGeom>
          <a:solidFill>
            <a:srgbClr val="111111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380000" y="5580000"/>
            <a:ext cx="11432000" cy="9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34C759"/>
                </a:solidFill>
                <a:latin typeface="Malgun Gothic" pitchFamily="34" charset="0"/>
              </a:rPr>
              <a:t xml:space="preserve">💡  </a:t>
            </a:r>
            <a:r>
              <a:rPr lang="ko-KR" sz="1300" dirty="0">
                <a:solidFill>
                  <a:srgbClr val="FFFFFF"/>
                </a:solidFill>
                <a:latin typeface="Malgun Gothic" pitchFamily="34" charset="0"/>
              </a:rPr>
              <a:t xml:space="preserve">비동기 상태 관리가 UX 신뢰성과 연결된다 — 데이터 유실은 신뢰 유실이다</a:t>
            </a:r>
          </a:p>
        </p:txBody>
      </p:sp>
      <p:sp>
        <p:nvSpPr>
          <p:cNvPr id="9" name="t9"/>
          <p:cNvSpPr>
            <a:spLocks noGrp="1"/>
          </p:cNvSpPr>
          <p:nvPr/>
        </p:nvSpPr>
        <p:spPr>
          <a:xfrm>
            <a:off x="380000" y="6518000"/>
            <a:ext cx="11432000" cy="2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5856D6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80000" y="240000"/>
            <a:ext cx="4320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10 · CODE × DECISION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80000" y="680000"/>
            <a:ext cx="4320000" cy="10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4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Decision 03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28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달력 기록 마킹</a:t>
            </a:r>
          </a:p>
          <a:p>
            <a:pPr algn="l">
              <a:buNone/>
              <a:spcBef>
                <a:spcPts val="100"/>
              </a:spcBef>
            </a:pPr>
            <a:r>
              <a:rPr lang="ko-KR" sz="1200" dirty="0">
                <a:solidFill>
                  <a:srgbClr val="666666"/>
                </a:solidFill>
                <a:latin typeface="Malgun Gothic" pitchFamily="34" charset="0"/>
              </a:rPr>
              <a:t xml:space="preserve">기록 있는 날짜 점 표시 — 달력 핵심 UX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80000" y="1900000"/>
            <a:ext cx="4320000" cy="3300000"/>
          </a:xfrm>
          <a:prstGeom prst="rect">
            <a:avLst/>
          </a:prstGeom>
          <a:solidFill>
            <a:srgbClr val="FFF8F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580000" y="1980000"/>
            <a:ext cx="3920000" cy="5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b/>
                <a:solidFill>
                  <a:srgbClr val="5856D6"/>
                </a:solidFill>
                <a:latin typeface="Malgun Gothic" pitchFamily="34" charset="0"/>
              </a:rPr>
              <a:t xml:space="preserve">📅 useMemo + markedDates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580000" y="2580000"/>
            <a:ext cx="3920000" cy="24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444444"/>
                </a:solidFill>
                <a:latin typeface="Malgun Gothic" pitchFamily="34" charset="0"/>
              </a:rPr>
              <a:t xml:space="preserve">전체 노트가 바뀔 때만 재계산
성능과 UX 동시 해결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5080000" y="1900000"/>
            <a:ext cx="6732000" cy="34000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280000" y="1970000"/>
            <a:ext cx="9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5856D6"/>
                </a:solidFill>
                <a:latin typeface="Consolas" pitchFamily="34" charset="0"/>
              </a:rPr>
              <a:t xml:space="preserve">code</a:t>
            </a:r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5280000" y="2400000"/>
            <a:ext cx="6332000" cy="27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const markedDates = useMemo(() =&gt; {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const marks: any = {};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allNotes.forEach((note) =&gt; {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const dk = convertFormat(note.date);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if (dk) marks[dk] = { marked: true };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});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marks[selectedDate] = {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...marks[selectedDate],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selected: true,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selectedColor: '#007AFF'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};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return marks;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}, [allNotes, convertFormat, selectedDate]);</a:t>
            </a:r>
          </a:p>
        </p:txBody>
      </p:sp>
      <p:sp>
        <p:nvSpPr>
          <p:cNvPr id="13" name="r13"/>
          <p:cNvSpPr>
            <a:spLocks noGrp="1"/>
          </p:cNvSpPr>
          <p:nvPr/>
        </p:nvSpPr>
        <p:spPr>
          <a:xfrm>
            <a:off x="0" y="5500000"/>
            <a:ext cx="12192000" cy="1050000"/>
          </a:xfrm>
          <a:prstGeom prst="rect">
            <a:avLst/>
          </a:prstGeom>
          <a:solidFill>
            <a:srgbClr val="111111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380000" y="5580000"/>
            <a:ext cx="11432000" cy="9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5856D6"/>
                </a:solidFill>
                <a:latin typeface="Malgun Gothic" pitchFamily="34" charset="0"/>
              </a:rPr>
              <a:t xml:space="preserve">💡  </a:t>
            </a:r>
            <a:r>
              <a:rPr lang="ko-KR" sz="1300" dirty="0">
                <a:solidFill>
                  <a:srgbClr val="FFFFFF"/>
                </a:solidFill>
                <a:latin typeface="Malgun Gothic" pitchFamily="34" charset="0"/>
              </a:rPr>
              <a:t xml:space="preserve">markedDates는 달력의 언어다 — 점 하나가 오늘도 기록했다는 성취감을 만든다</a:t>
            </a:r>
          </a:p>
        </p:txBody>
      </p:sp>
      <p:sp>
        <p:nvSpPr>
          <p:cNvPr id="9" name="t9"/>
          <p:cNvSpPr>
            <a:spLocks noGrp="1"/>
          </p:cNvSpPr>
          <p:nvPr/>
        </p:nvSpPr>
        <p:spPr>
          <a:xfrm>
            <a:off x="380000" y="6518000"/>
            <a:ext cx="11432000" cy="2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10"/>
          <p:cNvSpPr>
            <a:spLocks noGrp="1"/>
          </p:cNvSpPr>
          <p:nvPr/>
        </p:nvSpPr>
        <p:spPr>
          <a:xfrm>
            <a:off x="0" y="0"/>
            <a:ext cx="12192000" cy="200000"/>
          </a:xfrm>
          <a:prstGeom prst="rect">
            <a:avLst/>
          </a:prstGeom>
          <a:solidFill>
            <a:srgbClr val="FF950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2" name="t2"/>
          <p:cNvSpPr>
            <a:spLocks noGrp="1"/>
          </p:cNvSpPr>
          <p:nvPr/>
        </p:nvSpPr>
        <p:spPr>
          <a:xfrm>
            <a:off x="380000" y="240000"/>
            <a:ext cx="11432000" cy="4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888888"/>
                </a:solidFill>
                <a:latin typeface="Malgun Gothic" pitchFamily="34" charset="0"/>
              </a:rPr>
              <a:t xml:space="preserve">10 · CODE × DECISION</a:t>
            </a:r>
          </a:p>
        </p:txBody>
      </p:sp>
      <p:sp>
        <p:nvSpPr>
          <p:cNvPr id="3" name="t3"/>
          <p:cNvSpPr>
            <a:spLocks noGrp="1"/>
          </p:cNvSpPr>
          <p:nvPr/>
        </p:nvSpPr>
        <p:spPr>
          <a:xfrm>
            <a:off x="380000" y="680000"/>
            <a:ext cx="4320000" cy="10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400" dirty="0">
                <a:b/>
                <a:solidFill>
                  <a:srgbClr val="FF9500"/>
                </a:solidFill>
                <a:latin typeface="Malgun Gothic" pitchFamily="34" charset="0"/>
              </a:rPr>
              <a:t xml:space="preserve">Decision 04</a:t>
            </a:r>
          </a:p>
          <a:p>
            <a:pPr algn="l">
              <a:buNone/>
              <a:spcBef>
                <a:spcPts val="200"/>
              </a:spcBef>
            </a:pPr>
            <a:r>
              <a:rPr lang="ko-KR" sz="2800" dirty="0">
                <a:b/>
                <a:solidFill>
                  <a:srgbClr val="1A1A1A"/>
                </a:solidFill>
                <a:latin typeface="Malgun Gothic" pitchFamily="34" charset="0"/>
              </a:rPr>
              <a:t xml:space="preserve">파일 첨부 기능</a:t>
            </a:r>
          </a:p>
          <a:p>
            <a:pPr algn="l">
              <a:buNone/>
              <a:spcBef>
                <a:spcPts val="100"/>
              </a:spcBef>
            </a:pPr>
            <a:r>
              <a:rPr lang="ko-KR" sz="1200" dirty="0">
                <a:solidFill>
                  <a:srgbClr val="666666"/>
                </a:solidFill>
                <a:latin typeface="Malgun Gothic" pitchFamily="34" charset="0"/>
              </a:rPr>
              <a:t xml:space="preserve">expo-document-picker → 문서도 기록에 첨부</a:t>
            </a:r>
          </a:p>
        </p:txBody>
      </p:sp>
      <p:sp>
        <p:nvSpPr>
          <p:cNvPr id="11" name="r11"/>
          <p:cNvSpPr>
            <a:spLocks noGrp="1"/>
          </p:cNvSpPr>
          <p:nvPr/>
        </p:nvSpPr>
        <p:spPr>
          <a:xfrm>
            <a:off x="380000" y="1900000"/>
            <a:ext cx="4320000" cy="3400000"/>
          </a:xfrm>
          <a:prstGeom prst="rect">
            <a:avLst/>
          </a:prstGeom>
          <a:solidFill>
            <a:srgbClr val="FFF8F0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4" name="t4"/>
          <p:cNvSpPr>
            <a:spLocks noGrp="1"/>
          </p:cNvSpPr>
          <p:nvPr/>
        </p:nvSpPr>
        <p:spPr>
          <a:xfrm>
            <a:off x="580000" y="1980000"/>
            <a:ext cx="3920000" cy="5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b/>
                <a:solidFill>
                  <a:srgbClr val="FF9500"/>
                </a:solidFill>
                <a:latin typeface="Malgun Gothic" pitchFamily="34" charset="0"/>
              </a:rPr>
              <a:t xml:space="preserve">📎 DocumentPicker</a:t>
            </a:r>
          </a:p>
        </p:txBody>
      </p:sp>
      <p:sp>
        <p:nvSpPr>
          <p:cNvPr id="5" name="t5"/>
          <p:cNvSpPr>
            <a:spLocks noGrp="1"/>
          </p:cNvSpPr>
          <p:nvPr/>
        </p:nvSpPr>
        <p:spPr>
          <a:xfrm>
            <a:off x="580000" y="2580000"/>
            <a:ext cx="3920000" cy="6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200" dirty="0">
                <a:solidFill>
                  <a:srgbClr val="444444"/>
                </a:solidFill>
                <a:latin typeface="Malgun Gothic" pitchFamily="34" charset="0"/>
              </a:rPr>
              <a:t xml:space="preserve">사용자가 사진뿐 아니라 문서·파일도
기록에 첨부할 수 있게 확장</a:t>
            </a:r>
          </a:p>
        </p:txBody>
      </p:sp>
      <p:sp>
        <p:nvSpPr>
          <p:cNvPr id="6" name="t6"/>
          <p:cNvSpPr>
            <a:spLocks noGrp="1"/>
          </p:cNvSpPr>
          <p:nvPr/>
        </p:nvSpPr>
        <p:spPr>
          <a:xfrm>
            <a:off x="580000" y="3400000"/>
            <a:ext cx="3920000" cy="7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100" dirty="0">
                <a:solidFill>
                  <a:srgbClr val="666666"/>
                </a:solidFill>
                <a:latin typeface="Malgun Gothic" pitchFamily="34" charset="0"/>
              </a:rPr>
              <a:t xml:space="preserve">· multiple: true — 다중 파일 선택</a:t>
            </a:r>
          </a:p>
          <a:p>
            <a:pPr algn="l">
              <a:buNone/>
              <a:spcBef>
                <a:spcPts val="100"/>
              </a:spcBef>
            </a:pPr>
            <a:r>
              <a:rPr lang="ko-KR" sz="1100" dirty="0">
                <a:solidFill>
                  <a:srgbClr val="666666"/>
                </a:solidFill>
                <a:latin typeface="Malgun Gothic" pitchFamily="34" charset="0"/>
              </a:rPr>
              <a:t xml:space="preserve">· copyToCacheDirectory — 앱 캐시에 복사</a:t>
            </a:r>
          </a:p>
          <a:p>
            <a:pPr algn="l">
              <a:buNone/>
              <a:spcBef>
                <a:spcPts val="100"/>
              </a:spcBef>
            </a:pPr>
            <a:r>
              <a:rPr lang="ko-KR" sz="1100" dirty="0">
                <a:solidFill>
                  <a:srgbClr val="666666"/>
                </a:solidFill>
                <a:latin typeface="Malgun Gothic" pitchFamily="34" charset="0"/>
              </a:rPr>
              <a:t xml:space="preserve">· result.assets — 선택 파일 배열 처리</a:t>
            </a:r>
          </a:p>
        </p:txBody>
      </p:sp>
      <p:sp>
        <p:nvSpPr>
          <p:cNvPr id="12" name="r12"/>
          <p:cNvSpPr>
            <a:spLocks noGrp="1"/>
          </p:cNvSpPr>
          <p:nvPr/>
        </p:nvSpPr>
        <p:spPr>
          <a:xfrm>
            <a:off x="5080000" y="1900000"/>
            <a:ext cx="6732000" cy="34000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7" name="t7"/>
          <p:cNvSpPr>
            <a:spLocks noGrp="1"/>
          </p:cNvSpPr>
          <p:nvPr/>
        </p:nvSpPr>
        <p:spPr>
          <a:xfrm>
            <a:off x="5280000" y="1970000"/>
            <a:ext cx="900000" cy="3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000" dirty="0">
                <a:solidFill>
                  <a:srgbClr val="FF9500"/>
                </a:solidFill>
                <a:latin typeface="Consolas" pitchFamily="34" charset="0"/>
              </a:rPr>
              <a:t xml:space="preserve">code</a:t>
            </a:r>
          </a:p>
        </p:txBody>
      </p:sp>
      <p:sp>
        <p:nvSpPr>
          <p:cNvPr id="8" name="t8"/>
          <p:cNvSpPr>
            <a:spLocks noGrp="1"/>
          </p:cNvSpPr>
          <p:nvPr/>
        </p:nvSpPr>
        <p:spPr>
          <a:xfrm>
            <a:off x="5280000" y="2400000"/>
            <a:ext cx="6332000" cy="275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const result = await DocumentPicker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.getDocumentAsync({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copyToCacheDirectory: true,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multiple: true,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});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/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if (!result.canceled) {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setTempFiles([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...tempFiles,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  ...result.assets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  ]);</a:t>
            </a:r>
          </a:p>
          <a:p>
            <a:pPr algn="l">
              <a:buNone/>
            </a:pPr>
            <a:r>
              <a:rPr lang="ko-KR" sz="1100" dirty="0">
                <a:solidFill>
                  <a:srgbClr val="E8E8E8"/>
                </a:solidFill>
                <a:latin typeface="Consolas" pitchFamily="34" charset="0"/>
              </a:rPr>
              <a:t xml:space="preserve">}</a:t>
            </a:r>
          </a:p>
        </p:txBody>
      </p:sp>
      <p:sp>
        <p:nvSpPr>
          <p:cNvPr id="13" name="r13"/>
          <p:cNvSpPr>
            <a:spLocks noGrp="1"/>
          </p:cNvSpPr>
          <p:nvPr/>
        </p:nvSpPr>
        <p:spPr>
          <a:xfrm>
            <a:off x="0" y="5500000"/>
            <a:ext cx="12192000" cy="1050000"/>
          </a:xfrm>
          <a:prstGeom prst="rect">
            <a:avLst/>
          </a:prstGeom>
          <a:solidFill>
            <a:srgbClr val="111111"/>
          </a:solidFill>
        </p:spPr>
        <p:txBody>
          <a:bodyPr/>
          <a:lstStyle/>
          <a:p>
            <a:endParaRPr lang="ko-KR" dirty="0"/>
          </a:p>
        </p:txBody>
      </p:sp>
      <p:sp>
        <p:nvSpPr>
          <p:cNvPr id="9" name="t9"/>
          <p:cNvSpPr>
            <a:spLocks noGrp="1"/>
          </p:cNvSpPr>
          <p:nvPr/>
        </p:nvSpPr>
        <p:spPr>
          <a:xfrm>
            <a:off x="380000" y="5580000"/>
            <a:ext cx="11432000" cy="9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1300" dirty="0">
                <a:solidFill>
                  <a:srgbClr val="FF9500"/>
                </a:solidFill>
                <a:latin typeface="Malgun Gothic" pitchFamily="34" charset="0"/>
              </a:rPr>
              <a:t xml:space="preserve">💡  </a:t>
            </a:r>
            <a:r>
              <a:rPr lang="ko-KR" sz="1300" dirty="0">
                <a:solidFill>
                  <a:srgbClr val="FFFFFF"/>
                </a:solidFill>
                <a:latin typeface="Malgun Gothic" pitchFamily="34" charset="0"/>
              </a:rPr>
              <a:t xml:space="preserve">기록에 문서를 붙일 수 있다는 것 — 메모를 넘어 "아카이브"로 확장</a:t>
            </a:r>
          </a:p>
        </p:txBody>
      </p:sp>
      <p:sp>
        <p:nvSpPr>
          <p:cNvPr id="14" name="t14"/>
          <p:cNvSpPr>
            <a:spLocks noGrp="1"/>
          </p:cNvSpPr>
          <p:nvPr/>
        </p:nvSpPr>
        <p:spPr>
          <a:xfrm>
            <a:off x="380000" y="6518000"/>
            <a:ext cx="11432000" cy="28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buNone/>
            </a:pPr>
            <a:r>
              <a:rPr lang="ko-KR" sz="900" dirty="0">
                <a:solidFill>
                  <a:srgbClr val="AAAAAA"/>
                </a:solidFill>
                <a:latin typeface="Malgun Gothic" pitchFamily="34" charset="0"/>
              </a:rPr>
              <a:t xml:space="preserve">MyQuickNote · PM Portfolio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8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218882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조각들이 쌓이면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8882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 xml:space="preserve">나를 이해하는 </a:t>
            </a:r>
            <a:pPr algn="ctr" indent="0" marL="0">
              <a:buNone/>
            </a:pPr>
            <a:r>
              <a:rPr lang="en-US" sz="4200" b="1" dirty="0">
                <a:solidFill>
                  <a:srgbClr val="FF9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</a:t>
            </a:r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546090" y="4389120"/>
            <a:ext cx="1097280" cy="27305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617720"/>
            <a:ext cx="1218882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AE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486400"/>
            <a:ext cx="12189460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>GitHub  </a:t>
            </a:r>
            <a:r>
              <a:rPr lang="en-US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github.com/ebj0925-cyber/memo_2</a:t>
            </a: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>  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>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> </a:t>
            </a:r>
            <a:r>
              <a:rPr lang="en-US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>  Email  </a:t>
            </a:r>
            <a:r>
              <a:rPr lang="en-US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  <a:hlinkClick r:id="rId26">
                  <a:extLst>
                    <a:ext uri="{A12FA001-AC4F-418D-AE19-62706E023703}">
                      <ahyp:hlinkClr xmlns:ahyp="http://schemas.microsoft.com/office/drawing/2018/hyperlinkcolor" xmlns="" val="hlink"/>
                    </a:ext>
                  </a:extLst>
                </a:hlinkClick>
              </a:rPr>
              <a:t>kae8231@gmail.com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  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  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> </a:t>
            </a:r>
            <a:r>
              <a:rPr lang="ko-KR" sz="1400">
                <a:solidFill>
                  <a:srgbClr val="AEAEB2"/>
                </a:solidFill>
                <a:latin typeface="Malgun Gothic" charset="0"/>
                <a:ea typeface="Malgun Gothic" charset="0"/>
                <a:cs typeface="Malgun Gothic" charset="0"/>
              </a:rPr>
              <a:t>연락처 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0</a:t>
            </a:r>
            <a:r>
              <a:rPr lang="ko-KR" sz="1400" b="1">
                <a:solidFill>
                  <a:srgbClr val="FF9500"/>
                </a:solidFill>
                <a:latin typeface="Malgun Gothic" charset="0"/>
                <a:ea typeface="Malgun Gothic" charset="0"/>
                <a:cs typeface="Malgun Gothic" charset="0"/>
              </a:rPr>
              <a:t>10-2784-2509</a:t>
            </a:r>
            <a:endParaRPr lang="ko-KR" altLang="en-US" sz="1400" b="1">
              <a:solidFill>
                <a:srgbClr val="FF9500"/>
              </a:solidFill>
              <a:latin typeface="Malgun Gothic" charset="0"/>
              <a:ea typeface="Malgun Gothic" charset="0"/>
              <a:cs typeface="Malgun Gothic" charset="0"/>
            </a:endParaRPr>
          </a:p>
        </p:txBody>
      </p:sp>
      <p:pic>
        <p:nvPicPr>
          <p:cNvPr id="202" name="sparkle_end"/>
          <p:cNvPicPr>
            <a:picLocks noChangeAspect="1"/>
          </p:cNvPicPr>
          <p:nvPr/>
        </p:nvPicPr>
        <p:blipFill>
          <a:blip r:embed="rId_emoji_sparkle_s25"/>
          <a:stretch>
            <a:fillRect/>
          </a:stretch>
        </p:blipFill>
        <p:spPr>
          <a:xfrm>
            <a:off x="5751830" y="1394460"/>
            <a:ext cx="685800" cy="68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32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ThinkPiece PM Portfolio</dc:creator>
  <cp:lastModifiedBy>Cho EunJung</cp:lastModifiedBy>
  <dc:title>반짝이는 순간들 — PM 포트폴리오</dc:title>
  <dc:subject>PptxGenJS Presentation</dc:subject>
  <cp:version>10.105.306.56235</cp:version>
  <dcterms:modified xsi:type="dcterms:W3CDTF">2026-04-24T02:06:41Z</dcterms:modified>
</cp:coreProperties>
</file>